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57" r:id="rId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94717"/>
  </p:normalViewPr>
  <p:slideViewPr>
    <p:cSldViewPr snapToGrid="0">
      <p:cViewPr>
        <p:scale>
          <a:sx n="161" d="100"/>
          <a:sy n="161" d="100"/>
        </p:scale>
        <p:origin x="1080"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C352BF-EDD1-62BC-0DDC-6DE1DF21387F}"/>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F0911C6F-0990-4755-356F-A8A6902067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BC2B5E8A-72B9-C70E-53E6-4E4F0E774A80}"/>
              </a:ext>
            </a:extLst>
          </p:cNvPr>
          <p:cNvSpPr>
            <a:spLocks noGrp="1"/>
          </p:cNvSpPr>
          <p:nvPr>
            <p:ph type="dt" sz="half" idx="10"/>
          </p:nvPr>
        </p:nvSpPr>
        <p:spPr/>
        <p:txBody>
          <a:bodyPr/>
          <a:lstStyle/>
          <a:p>
            <a:fld id="{8A13B76A-E33D-D740-AA46-2B79AE3E781C}" type="datetimeFigureOut">
              <a:rPr kumimoji="1" lang="zh-TW" altLang="en-US" smtClean="0"/>
              <a:t>2025/7/22</a:t>
            </a:fld>
            <a:endParaRPr kumimoji="1" lang="zh-TW" altLang="en-US"/>
          </a:p>
        </p:txBody>
      </p:sp>
      <p:sp>
        <p:nvSpPr>
          <p:cNvPr id="5" name="頁尾版面配置區 4">
            <a:extLst>
              <a:ext uri="{FF2B5EF4-FFF2-40B4-BE49-F238E27FC236}">
                <a16:creationId xmlns:a16="http://schemas.microsoft.com/office/drawing/2014/main" id="{5B6F62E4-5DB4-D1C8-A09D-9DF06A816220}"/>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9C99E1C-B5AF-0588-AF1E-CD584DAFFBE3}"/>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3535128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1FA834-2116-A95E-4DB7-DBDC3362A343}"/>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C3107203-2D21-C044-0A32-1287398C22C0}"/>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6AB78EB4-6AAE-990B-9915-CB8929FA05C7}"/>
              </a:ext>
            </a:extLst>
          </p:cNvPr>
          <p:cNvSpPr>
            <a:spLocks noGrp="1"/>
          </p:cNvSpPr>
          <p:nvPr>
            <p:ph type="dt" sz="half" idx="10"/>
          </p:nvPr>
        </p:nvSpPr>
        <p:spPr/>
        <p:txBody>
          <a:bodyPr/>
          <a:lstStyle/>
          <a:p>
            <a:fld id="{8A13B76A-E33D-D740-AA46-2B79AE3E781C}" type="datetimeFigureOut">
              <a:rPr kumimoji="1" lang="zh-TW" altLang="en-US" smtClean="0"/>
              <a:t>2025/7/22</a:t>
            </a:fld>
            <a:endParaRPr kumimoji="1" lang="zh-TW" altLang="en-US"/>
          </a:p>
        </p:txBody>
      </p:sp>
      <p:sp>
        <p:nvSpPr>
          <p:cNvPr id="5" name="頁尾版面配置區 4">
            <a:extLst>
              <a:ext uri="{FF2B5EF4-FFF2-40B4-BE49-F238E27FC236}">
                <a16:creationId xmlns:a16="http://schemas.microsoft.com/office/drawing/2014/main" id="{92FD57A2-1BCF-2594-37D1-562022B37616}"/>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AF8DCBF-9868-74A4-DEBE-2DC8F511CB77}"/>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2808041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2534FE-B0F6-4B38-F3B4-A1DEFD630492}"/>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6FB3404D-0B39-AEDC-35DC-CFBF7CDB40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93D414A3-8E07-DF8F-993E-4223B5D558FE}"/>
              </a:ext>
            </a:extLst>
          </p:cNvPr>
          <p:cNvSpPr>
            <a:spLocks noGrp="1"/>
          </p:cNvSpPr>
          <p:nvPr>
            <p:ph type="dt" sz="half" idx="10"/>
          </p:nvPr>
        </p:nvSpPr>
        <p:spPr/>
        <p:txBody>
          <a:bodyPr/>
          <a:lstStyle/>
          <a:p>
            <a:fld id="{8A13B76A-E33D-D740-AA46-2B79AE3E781C}" type="datetimeFigureOut">
              <a:rPr kumimoji="1" lang="zh-TW" altLang="en-US" smtClean="0"/>
              <a:t>2025/7/22</a:t>
            </a:fld>
            <a:endParaRPr kumimoji="1" lang="zh-TW" altLang="en-US"/>
          </a:p>
        </p:txBody>
      </p:sp>
      <p:sp>
        <p:nvSpPr>
          <p:cNvPr id="5" name="頁尾版面配置區 4">
            <a:extLst>
              <a:ext uri="{FF2B5EF4-FFF2-40B4-BE49-F238E27FC236}">
                <a16:creationId xmlns:a16="http://schemas.microsoft.com/office/drawing/2014/main" id="{DA0A8867-12AD-1058-7C62-00729DC46A6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DB347B9C-D248-7843-BFCC-FC69DFBC19DF}"/>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1571925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A47B65-6D7D-DE19-08EF-453A8A200163}"/>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10818670-71E9-2CCB-12E3-126C2123BC3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08F565F6-0C96-14B8-3247-727B3FEC758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66915ECF-6852-A192-B2EA-2ED97DCEF52F}"/>
              </a:ext>
            </a:extLst>
          </p:cNvPr>
          <p:cNvSpPr>
            <a:spLocks noGrp="1"/>
          </p:cNvSpPr>
          <p:nvPr>
            <p:ph type="dt" sz="half" idx="10"/>
          </p:nvPr>
        </p:nvSpPr>
        <p:spPr/>
        <p:txBody>
          <a:bodyPr/>
          <a:lstStyle/>
          <a:p>
            <a:fld id="{8A13B76A-E33D-D740-AA46-2B79AE3E781C}" type="datetimeFigureOut">
              <a:rPr kumimoji="1" lang="zh-TW" altLang="en-US" smtClean="0"/>
              <a:t>2025/7/22</a:t>
            </a:fld>
            <a:endParaRPr kumimoji="1" lang="zh-TW" altLang="en-US"/>
          </a:p>
        </p:txBody>
      </p:sp>
      <p:sp>
        <p:nvSpPr>
          <p:cNvPr id="6" name="頁尾版面配置區 5">
            <a:extLst>
              <a:ext uri="{FF2B5EF4-FFF2-40B4-BE49-F238E27FC236}">
                <a16:creationId xmlns:a16="http://schemas.microsoft.com/office/drawing/2014/main" id="{5D03347E-6330-F944-750F-7897BEE085C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E2237-AB0B-DB2B-736C-D853AEB6C49D}"/>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4200219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0124F1-8AE0-AC95-BB8E-E4AA614A4BFF}"/>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FF891555-D0A0-CAE9-DC16-CA0158C855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19D32DA3-F0CB-4A36-D9F4-F40BD82BE1D5}"/>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F1E61CA9-F5CC-8DCB-E10B-2D0A72D575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3F14077-8602-34FF-08D8-0876B525EBCE}"/>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12204FB-72EB-533F-FBE4-F7942D75D9EF}"/>
              </a:ext>
            </a:extLst>
          </p:cNvPr>
          <p:cNvSpPr>
            <a:spLocks noGrp="1"/>
          </p:cNvSpPr>
          <p:nvPr>
            <p:ph type="dt" sz="half" idx="10"/>
          </p:nvPr>
        </p:nvSpPr>
        <p:spPr/>
        <p:txBody>
          <a:bodyPr/>
          <a:lstStyle/>
          <a:p>
            <a:fld id="{8A13B76A-E33D-D740-AA46-2B79AE3E781C}" type="datetimeFigureOut">
              <a:rPr kumimoji="1" lang="zh-TW" altLang="en-US" smtClean="0"/>
              <a:t>2025/7/22</a:t>
            </a:fld>
            <a:endParaRPr kumimoji="1" lang="zh-TW" altLang="en-US"/>
          </a:p>
        </p:txBody>
      </p:sp>
      <p:sp>
        <p:nvSpPr>
          <p:cNvPr id="8" name="頁尾版面配置區 7">
            <a:extLst>
              <a:ext uri="{FF2B5EF4-FFF2-40B4-BE49-F238E27FC236}">
                <a16:creationId xmlns:a16="http://schemas.microsoft.com/office/drawing/2014/main" id="{C86912FF-9A79-79D7-9217-35BE02F81D24}"/>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D96A0C1-1015-C551-ECDE-92F0AB9324C6}"/>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2646259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41B952-DEE8-E44B-B211-79B73A18141D}"/>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0226671C-DC50-2D86-9000-9C12FEC34C6D}"/>
              </a:ext>
            </a:extLst>
          </p:cNvPr>
          <p:cNvSpPr>
            <a:spLocks noGrp="1"/>
          </p:cNvSpPr>
          <p:nvPr>
            <p:ph type="dt" sz="half" idx="10"/>
          </p:nvPr>
        </p:nvSpPr>
        <p:spPr/>
        <p:txBody>
          <a:bodyPr/>
          <a:lstStyle/>
          <a:p>
            <a:fld id="{8A13B76A-E33D-D740-AA46-2B79AE3E781C}" type="datetimeFigureOut">
              <a:rPr kumimoji="1" lang="zh-TW" altLang="en-US" smtClean="0"/>
              <a:t>2025/7/22</a:t>
            </a:fld>
            <a:endParaRPr kumimoji="1" lang="zh-TW" altLang="en-US"/>
          </a:p>
        </p:txBody>
      </p:sp>
      <p:sp>
        <p:nvSpPr>
          <p:cNvPr id="4" name="頁尾版面配置區 3">
            <a:extLst>
              <a:ext uri="{FF2B5EF4-FFF2-40B4-BE49-F238E27FC236}">
                <a16:creationId xmlns:a16="http://schemas.microsoft.com/office/drawing/2014/main" id="{27F9742A-48A8-958D-5705-6C6E4238026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70816955-4F0F-1E97-C42B-AC0A0FC6AC2A}"/>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873674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40CD8E36-EA6C-0A11-BB1B-C0433B96C192}"/>
              </a:ext>
            </a:extLst>
          </p:cNvPr>
          <p:cNvSpPr>
            <a:spLocks noGrp="1"/>
          </p:cNvSpPr>
          <p:nvPr>
            <p:ph type="dt" sz="half" idx="10"/>
          </p:nvPr>
        </p:nvSpPr>
        <p:spPr/>
        <p:txBody>
          <a:bodyPr/>
          <a:lstStyle/>
          <a:p>
            <a:fld id="{8A13B76A-E33D-D740-AA46-2B79AE3E781C}" type="datetimeFigureOut">
              <a:rPr kumimoji="1" lang="zh-TW" altLang="en-US" smtClean="0"/>
              <a:t>2025/7/22</a:t>
            </a:fld>
            <a:endParaRPr kumimoji="1" lang="zh-TW" altLang="en-US"/>
          </a:p>
        </p:txBody>
      </p:sp>
      <p:sp>
        <p:nvSpPr>
          <p:cNvPr id="3" name="頁尾版面配置區 2">
            <a:extLst>
              <a:ext uri="{FF2B5EF4-FFF2-40B4-BE49-F238E27FC236}">
                <a16:creationId xmlns:a16="http://schemas.microsoft.com/office/drawing/2014/main" id="{F088D885-AB1A-1612-BE96-7553443DA384}"/>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B8BC9BD2-1C2A-7F15-13CE-0A49101608C7}"/>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2338562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A849B0-6242-8305-EC76-AF71CDD18BBC}"/>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C190CFED-DF2C-386B-67F1-4495F43453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E189216E-7FE8-62CF-DA43-FF0EF84BDA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EFD58A89-7497-4980-DB7B-5F94F8361A7A}"/>
              </a:ext>
            </a:extLst>
          </p:cNvPr>
          <p:cNvSpPr>
            <a:spLocks noGrp="1"/>
          </p:cNvSpPr>
          <p:nvPr>
            <p:ph type="dt" sz="half" idx="10"/>
          </p:nvPr>
        </p:nvSpPr>
        <p:spPr/>
        <p:txBody>
          <a:bodyPr/>
          <a:lstStyle/>
          <a:p>
            <a:fld id="{8A13B76A-E33D-D740-AA46-2B79AE3E781C}" type="datetimeFigureOut">
              <a:rPr kumimoji="1" lang="zh-TW" altLang="en-US" smtClean="0"/>
              <a:t>2025/7/22</a:t>
            </a:fld>
            <a:endParaRPr kumimoji="1" lang="zh-TW" altLang="en-US"/>
          </a:p>
        </p:txBody>
      </p:sp>
      <p:sp>
        <p:nvSpPr>
          <p:cNvPr id="6" name="頁尾版面配置區 5">
            <a:extLst>
              <a:ext uri="{FF2B5EF4-FFF2-40B4-BE49-F238E27FC236}">
                <a16:creationId xmlns:a16="http://schemas.microsoft.com/office/drawing/2014/main" id="{9ADA7E97-ACC5-7A54-518F-448080CE22A5}"/>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3D2D602-4A7B-4196-793A-C54F7FF4CB21}"/>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3976291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E0684D-1BAA-37FC-57B1-75F32D35EF4D}"/>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0E324189-C3CE-6491-0B12-56CB4ABF0A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790DDC87-5931-5C0C-BF0D-379FB1E81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75FF8C9E-E49A-48F4-79C4-4E4400A178ED}"/>
              </a:ext>
            </a:extLst>
          </p:cNvPr>
          <p:cNvSpPr>
            <a:spLocks noGrp="1"/>
          </p:cNvSpPr>
          <p:nvPr>
            <p:ph type="dt" sz="half" idx="10"/>
          </p:nvPr>
        </p:nvSpPr>
        <p:spPr/>
        <p:txBody>
          <a:bodyPr/>
          <a:lstStyle/>
          <a:p>
            <a:fld id="{8A13B76A-E33D-D740-AA46-2B79AE3E781C}" type="datetimeFigureOut">
              <a:rPr kumimoji="1" lang="zh-TW" altLang="en-US" smtClean="0"/>
              <a:t>2025/7/22</a:t>
            </a:fld>
            <a:endParaRPr kumimoji="1" lang="zh-TW" altLang="en-US"/>
          </a:p>
        </p:txBody>
      </p:sp>
      <p:sp>
        <p:nvSpPr>
          <p:cNvPr id="6" name="頁尾版面配置區 5">
            <a:extLst>
              <a:ext uri="{FF2B5EF4-FFF2-40B4-BE49-F238E27FC236}">
                <a16:creationId xmlns:a16="http://schemas.microsoft.com/office/drawing/2014/main" id="{4AB24BD4-77C2-7485-1A27-4E90C080AFBD}"/>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760080AC-97AA-B785-2B7C-D1496E72A48F}"/>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2243605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B73A23-9C4F-F808-814B-3D8F4B1ADA05}"/>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307DB482-1590-CF29-79B9-B74369A5CFEA}"/>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24731F6-05E1-12B7-2693-9C1F5F397591}"/>
              </a:ext>
            </a:extLst>
          </p:cNvPr>
          <p:cNvSpPr>
            <a:spLocks noGrp="1"/>
          </p:cNvSpPr>
          <p:nvPr>
            <p:ph type="dt" sz="half" idx="10"/>
          </p:nvPr>
        </p:nvSpPr>
        <p:spPr/>
        <p:txBody>
          <a:bodyPr/>
          <a:lstStyle/>
          <a:p>
            <a:fld id="{8A13B76A-E33D-D740-AA46-2B79AE3E781C}" type="datetimeFigureOut">
              <a:rPr kumimoji="1" lang="zh-TW" altLang="en-US" smtClean="0"/>
              <a:t>2025/7/22</a:t>
            </a:fld>
            <a:endParaRPr kumimoji="1" lang="zh-TW" altLang="en-US"/>
          </a:p>
        </p:txBody>
      </p:sp>
      <p:sp>
        <p:nvSpPr>
          <p:cNvPr id="5" name="頁尾版面配置區 4">
            <a:extLst>
              <a:ext uri="{FF2B5EF4-FFF2-40B4-BE49-F238E27FC236}">
                <a16:creationId xmlns:a16="http://schemas.microsoft.com/office/drawing/2014/main" id="{0F31FFE2-FDBF-EACE-9EC0-68ABB648F09B}"/>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C818E3D-2F6A-8E68-9FC0-225C5016B0F5}"/>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137903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4BFB1671-31AC-F7C0-F3EF-4C904B058F9B}"/>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4901C029-FC0F-B32D-E70D-6515D7DF7A0C}"/>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C1F61C9-7E32-E5E7-7753-A98A7CDCEB22}"/>
              </a:ext>
            </a:extLst>
          </p:cNvPr>
          <p:cNvSpPr>
            <a:spLocks noGrp="1"/>
          </p:cNvSpPr>
          <p:nvPr>
            <p:ph type="dt" sz="half" idx="10"/>
          </p:nvPr>
        </p:nvSpPr>
        <p:spPr/>
        <p:txBody>
          <a:bodyPr/>
          <a:lstStyle/>
          <a:p>
            <a:fld id="{8A13B76A-E33D-D740-AA46-2B79AE3E781C}" type="datetimeFigureOut">
              <a:rPr kumimoji="1" lang="zh-TW" altLang="en-US" smtClean="0"/>
              <a:t>2025/7/22</a:t>
            </a:fld>
            <a:endParaRPr kumimoji="1" lang="zh-TW" altLang="en-US"/>
          </a:p>
        </p:txBody>
      </p:sp>
      <p:sp>
        <p:nvSpPr>
          <p:cNvPr id="5" name="頁尾版面配置區 4">
            <a:extLst>
              <a:ext uri="{FF2B5EF4-FFF2-40B4-BE49-F238E27FC236}">
                <a16:creationId xmlns:a16="http://schemas.microsoft.com/office/drawing/2014/main" id="{16F18665-DA1D-A4FE-7EE8-9FEF63C03DB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2B49AC55-A32C-A673-2480-32732EF9C609}"/>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3268983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3C9E3EA1-4DF3-2B0E-2EFD-521F44B838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2528A0F1-26C2-AE60-A808-696D58EBD5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F3AF3672-0E32-4EE2-341A-B68AA88328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13B76A-E33D-D740-AA46-2B79AE3E781C}" type="datetimeFigureOut">
              <a:rPr kumimoji="1" lang="zh-TW" altLang="en-US" smtClean="0"/>
              <a:t>2025/7/22</a:t>
            </a:fld>
            <a:endParaRPr kumimoji="1" lang="zh-TW" altLang="en-US"/>
          </a:p>
        </p:txBody>
      </p:sp>
      <p:sp>
        <p:nvSpPr>
          <p:cNvPr id="5" name="頁尾版面配置區 4">
            <a:extLst>
              <a:ext uri="{FF2B5EF4-FFF2-40B4-BE49-F238E27FC236}">
                <a16:creationId xmlns:a16="http://schemas.microsoft.com/office/drawing/2014/main" id="{8BB36E30-57A9-FA15-7F8A-AFB6013024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8906C266-8B41-3B3C-42D7-8F5E0D86F3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2324521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35738AA-4723-DA68-6A82-E5BE7A1EE6E0}"/>
              </a:ext>
            </a:extLst>
          </p:cNvPr>
          <p:cNvSpPr/>
          <p:nvPr/>
        </p:nvSpPr>
        <p:spPr>
          <a:xfrm>
            <a:off x="2391213" y="2193572"/>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User input</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(Markdown to S1000D modules, e.g., descriptive, procedural)</a:t>
            </a:r>
          </a:p>
        </p:txBody>
      </p:sp>
      <p:sp>
        <p:nvSpPr>
          <p:cNvPr id="8" name="橢圓 7">
            <a:extLst>
              <a:ext uri="{FF2B5EF4-FFF2-40B4-BE49-F238E27FC236}">
                <a16:creationId xmlns:a16="http://schemas.microsoft.com/office/drawing/2014/main" id="{D0EC25D9-ED5A-ACE5-F4A5-D90B10A2360A}"/>
              </a:ext>
            </a:extLst>
          </p:cNvPr>
          <p:cNvSpPr/>
          <p:nvPr/>
        </p:nvSpPr>
        <p:spPr>
          <a:xfrm>
            <a:off x="7031776" y="3158601"/>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橢圓 9">
            <a:extLst>
              <a:ext uri="{FF2B5EF4-FFF2-40B4-BE49-F238E27FC236}">
                <a16:creationId xmlns:a16="http://schemas.microsoft.com/office/drawing/2014/main" id="{22BDBB67-98FE-17F7-25AF-A1C041E40A43}"/>
              </a:ext>
            </a:extLst>
          </p:cNvPr>
          <p:cNvSpPr/>
          <p:nvPr/>
        </p:nvSpPr>
        <p:spPr>
          <a:xfrm>
            <a:off x="5211846" y="3154609"/>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矩形 5">
            <a:extLst>
              <a:ext uri="{FF2B5EF4-FFF2-40B4-BE49-F238E27FC236}">
                <a16:creationId xmlns:a16="http://schemas.microsoft.com/office/drawing/2014/main" id="{8745D3F6-D048-070D-EB02-184AD263836F}"/>
              </a:ext>
            </a:extLst>
          </p:cNvPr>
          <p:cNvSpPr/>
          <p:nvPr/>
        </p:nvSpPr>
        <p:spPr>
          <a:xfrm>
            <a:off x="5287634" y="4009279"/>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Local Syntax Check</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(XML-aware CSG parser)</a:t>
            </a:r>
          </a:p>
        </p:txBody>
      </p:sp>
      <p:cxnSp>
        <p:nvCxnSpPr>
          <p:cNvPr id="12" name="肘形接點 11">
            <a:extLst>
              <a:ext uri="{FF2B5EF4-FFF2-40B4-BE49-F238E27FC236}">
                <a16:creationId xmlns:a16="http://schemas.microsoft.com/office/drawing/2014/main" id="{92A31950-1275-B52E-B3E6-F2FF9BDA9CE9}"/>
              </a:ext>
            </a:extLst>
          </p:cNvPr>
          <p:cNvCxnSpPr>
            <a:cxnSpLocks/>
            <a:stCxn id="8" idx="6"/>
            <a:endCxn id="6" idx="3"/>
          </p:cNvCxnSpPr>
          <p:nvPr/>
        </p:nvCxnSpPr>
        <p:spPr>
          <a:xfrm flipH="1">
            <a:off x="7107566" y="3234391"/>
            <a:ext cx="75789" cy="1242807"/>
          </a:xfrm>
          <a:prstGeom prst="bentConnector3">
            <a:avLst>
              <a:gd name="adj1" fmla="val -30162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肘形接點 12">
            <a:extLst>
              <a:ext uri="{FF2B5EF4-FFF2-40B4-BE49-F238E27FC236}">
                <a16:creationId xmlns:a16="http://schemas.microsoft.com/office/drawing/2014/main" id="{2AAC3710-26BC-2743-C5FC-7D3FD87DCF3C}"/>
              </a:ext>
            </a:extLst>
          </p:cNvPr>
          <p:cNvCxnSpPr>
            <a:cxnSpLocks/>
            <a:stCxn id="6" idx="1"/>
            <a:endCxn id="10" idx="2"/>
          </p:cNvCxnSpPr>
          <p:nvPr/>
        </p:nvCxnSpPr>
        <p:spPr>
          <a:xfrm rot="10800000">
            <a:off x="5211846" y="3230400"/>
            <a:ext cx="75788" cy="1246799"/>
          </a:xfrm>
          <a:prstGeom prst="bentConnector3">
            <a:avLst>
              <a:gd name="adj1" fmla="val 40163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44E49594-832C-5EDF-E33B-309F9DF5D4A8}"/>
              </a:ext>
            </a:extLst>
          </p:cNvPr>
          <p:cNvSpPr/>
          <p:nvPr/>
        </p:nvSpPr>
        <p:spPr>
          <a:xfrm>
            <a:off x="5287633" y="5268789"/>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Full Document Validator</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(s1kd-validate)</a:t>
            </a:r>
          </a:p>
        </p:txBody>
      </p:sp>
      <p:sp>
        <p:nvSpPr>
          <p:cNvPr id="17" name="橢圓 16">
            <a:extLst>
              <a:ext uri="{FF2B5EF4-FFF2-40B4-BE49-F238E27FC236}">
                <a16:creationId xmlns:a16="http://schemas.microsoft.com/office/drawing/2014/main" id="{78FB7690-4C1F-6E12-3DD9-E1BCE9DD852E}"/>
              </a:ext>
            </a:extLst>
          </p:cNvPr>
          <p:cNvSpPr/>
          <p:nvPr/>
        </p:nvSpPr>
        <p:spPr>
          <a:xfrm>
            <a:off x="7031776" y="2874147"/>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橢圓 17">
            <a:extLst>
              <a:ext uri="{FF2B5EF4-FFF2-40B4-BE49-F238E27FC236}">
                <a16:creationId xmlns:a16="http://schemas.microsoft.com/office/drawing/2014/main" id="{05BD28EB-0F3A-9B58-6916-A7DBC32F1706}"/>
              </a:ext>
            </a:extLst>
          </p:cNvPr>
          <p:cNvSpPr/>
          <p:nvPr/>
        </p:nvSpPr>
        <p:spPr>
          <a:xfrm>
            <a:off x="5211846" y="2870155"/>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9" name="肘形接點 18">
            <a:extLst>
              <a:ext uri="{FF2B5EF4-FFF2-40B4-BE49-F238E27FC236}">
                <a16:creationId xmlns:a16="http://schemas.microsoft.com/office/drawing/2014/main" id="{C865AA64-49E7-56D7-C3D5-2866893D24F2}"/>
              </a:ext>
            </a:extLst>
          </p:cNvPr>
          <p:cNvCxnSpPr>
            <a:cxnSpLocks/>
            <a:stCxn id="17" idx="6"/>
            <a:endCxn id="16" idx="3"/>
          </p:cNvCxnSpPr>
          <p:nvPr/>
        </p:nvCxnSpPr>
        <p:spPr>
          <a:xfrm flipH="1">
            <a:off x="7107565" y="2949937"/>
            <a:ext cx="75790" cy="2786771"/>
          </a:xfrm>
          <a:prstGeom prst="bentConnector3">
            <a:avLst>
              <a:gd name="adj1" fmla="val -50611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肘形接點 22">
            <a:extLst>
              <a:ext uri="{FF2B5EF4-FFF2-40B4-BE49-F238E27FC236}">
                <a16:creationId xmlns:a16="http://schemas.microsoft.com/office/drawing/2014/main" id="{530EA4B8-996E-D3DA-A015-355115BB22DF}"/>
              </a:ext>
            </a:extLst>
          </p:cNvPr>
          <p:cNvCxnSpPr>
            <a:cxnSpLocks/>
            <a:stCxn id="16" idx="1"/>
            <a:endCxn id="18" idx="2"/>
          </p:cNvCxnSpPr>
          <p:nvPr/>
        </p:nvCxnSpPr>
        <p:spPr>
          <a:xfrm rot="10800000">
            <a:off x="5211847" y="2945946"/>
            <a:ext cx="75787" cy="2790763"/>
          </a:xfrm>
          <a:prstGeom prst="bentConnector3">
            <a:avLst>
              <a:gd name="adj1" fmla="val 595908"/>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橢圓 29">
            <a:extLst>
              <a:ext uri="{FF2B5EF4-FFF2-40B4-BE49-F238E27FC236}">
                <a16:creationId xmlns:a16="http://schemas.microsoft.com/office/drawing/2014/main" id="{D42C97F9-7602-D01F-6EA6-DED9A33084B5}"/>
              </a:ext>
            </a:extLst>
          </p:cNvPr>
          <p:cNvSpPr/>
          <p:nvPr/>
        </p:nvSpPr>
        <p:spPr>
          <a:xfrm>
            <a:off x="7031776" y="2589693"/>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 name="橢圓 30">
            <a:extLst>
              <a:ext uri="{FF2B5EF4-FFF2-40B4-BE49-F238E27FC236}">
                <a16:creationId xmlns:a16="http://schemas.microsoft.com/office/drawing/2014/main" id="{E62FC55A-BDA0-3F1F-35B4-6783EA6EB616}"/>
              </a:ext>
            </a:extLst>
          </p:cNvPr>
          <p:cNvSpPr/>
          <p:nvPr/>
        </p:nvSpPr>
        <p:spPr>
          <a:xfrm>
            <a:off x="5211846" y="2585701"/>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矩形 3">
            <a:extLst>
              <a:ext uri="{FF2B5EF4-FFF2-40B4-BE49-F238E27FC236}">
                <a16:creationId xmlns:a16="http://schemas.microsoft.com/office/drawing/2014/main" id="{BD614222-F6AF-7493-2918-5234BAFFE48D}"/>
              </a:ext>
            </a:extLst>
          </p:cNvPr>
          <p:cNvSpPr/>
          <p:nvPr/>
        </p:nvSpPr>
        <p:spPr>
          <a:xfrm>
            <a:off x="5287634" y="2490534"/>
            <a:ext cx="1819932" cy="935837"/>
          </a:xfrm>
          <a:prstGeom prst="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Structure Inference Layer</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(GPT-2 / GPT-J + </a:t>
            </a:r>
            <a:r>
              <a:rPr kumimoji="1" lang="en-US" altLang="zh-TW" sz="1050" dirty="0" err="1">
                <a:solidFill>
                  <a:schemeClr val="tx2"/>
                </a:solidFill>
                <a:latin typeface="BiauKaiTC Regular" panose="03000500000000000000" pitchFamily="66" charset="-120"/>
                <a:ea typeface="BiauKaiTC Regular" panose="03000500000000000000" pitchFamily="66" charset="-120"/>
              </a:rPr>
              <a:t>LoRA</a:t>
            </a:r>
            <a:r>
              <a:rPr kumimoji="1" lang="en-US" altLang="zh-TW" sz="1050" dirty="0">
                <a:solidFill>
                  <a:schemeClr val="tx2"/>
                </a:solidFill>
                <a:latin typeface="BiauKaiTC Regular" panose="03000500000000000000" pitchFamily="66" charset="-120"/>
                <a:ea typeface="BiauKaiTC Regular" panose="03000500000000000000" pitchFamily="66" charset="-120"/>
              </a:rPr>
              <a:t>)</a:t>
            </a:r>
          </a:p>
        </p:txBody>
      </p:sp>
      <p:cxnSp>
        <p:nvCxnSpPr>
          <p:cNvPr id="58" name="直線箭頭接點 57">
            <a:extLst>
              <a:ext uri="{FF2B5EF4-FFF2-40B4-BE49-F238E27FC236}">
                <a16:creationId xmlns:a16="http://schemas.microsoft.com/office/drawing/2014/main" id="{EEFE3824-2471-407B-7138-5774CD604EF5}"/>
              </a:ext>
            </a:extLst>
          </p:cNvPr>
          <p:cNvCxnSpPr>
            <a:stCxn id="5" idx="3"/>
            <a:endCxn id="31" idx="2"/>
          </p:cNvCxnSpPr>
          <p:nvPr/>
        </p:nvCxnSpPr>
        <p:spPr>
          <a:xfrm>
            <a:off x="4211145" y="2661491"/>
            <a:ext cx="10007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9CD8F753-2E72-30AC-F7E1-55811366C00F}"/>
              </a:ext>
            </a:extLst>
          </p:cNvPr>
          <p:cNvSpPr txBox="1"/>
          <p:nvPr/>
        </p:nvSpPr>
        <p:spPr>
          <a:xfrm>
            <a:off x="5287631" y="3784256"/>
            <a:ext cx="1819933"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dirty="0"/>
              <a:t>Error Recovery Loop #1</a:t>
            </a:r>
            <a:endParaRPr lang="zh-TW" altLang="en-US" dirty="0"/>
          </a:p>
        </p:txBody>
      </p:sp>
      <p:sp>
        <p:nvSpPr>
          <p:cNvPr id="63" name="文字方塊 62">
            <a:extLst>
              <a:ext uri="{FF2B5EF4-FFF2-40B4-BE49-F238E27FC236}">
                <a16:creationId xmlns:a16="http://schemas.microsoft.com/office/drawing/2014/main" id="{C9C416AA-B05D-D667-1985-EE568CA613FC}"/>
              </a:ext>
            </a:extLst>
          </p:cNvPr>
          <p:cNvSpPr txBox="1"/>
          <p:nvPr/>
        </p:nvSpPr>
        <p:spPr>
          <a:xfrm>
            <a:off x="5210873" y="5048623"/>
            <a:ext cx="1819933"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dirty="0"/>
              <a:t>Error Recovery Loop #2</a:t>
            </a:r>
            <a:endParaRPr lang="zh-TW" altLang="en-US" dirty="0"/>
          </a:p>
        </p:txBody>
      </p:sp>
      <p:cxnSp>
        <p:nvCxnSpPr>
          <p:cNvPr id="66" name="直線箭頭接點 65">
            <a:extLst>
              <a:ext uri="{FF2B5EF4-FFF2-40B4-BE49-F238E27FC236}">
                <a16:creationId xmlns:a16="http://schemas.microsoft.com/office/drawing/2014/main" id="{B8A43727-6128-58FC-D97B-4951174BB690}"/>
              </a:ext>
            </a:extLst>
          </p:cNvPr>
          <p:cNvCxnSpPr>
            <a:cxnSpLocks/>
            <a:stCxn id="67" idx="3"/>
            <a:endCxn id="5" idx="1"/>
          </p:cNvCxnSpPr>
          <p:nvPr/>
        </p:nvCxnSpPr>
        <p:spPr>
          <a:xfrm>
            <a:off x="2054760" y="2661491"/>
            <a:ext cx="3364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文字方塊 66">
            <a:extLst>
              <a:ext uri="{FF2B5EF4-FFF2-40B4-BE49-F238E27FC236}">
                <a16:creationId xmlns:a16="http://schemas.microsoft.com/office/drawing/2014/main" id="{2B3AA3D7-8150-98D5-8E36-152BE654EE05}"/>
              </a:ext>
            </a:extLst>
          </p:cNvPr>
          <p:cNvSpPr txBox="1"/>
          <p:nvPr/>
        </p:nvSpPr>
        <p:spPr>
          <a:xfrm>
            <a:off x="907734" y="2525556"/>
            <a:ext cx="1147026"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Markdown</a:t>
            </a:r>
            <a:endParaRPr lang="en" altLang="zh-TW" sz="1050" dirty="0"/>
          </a:p>
        </p:txBody>
      </p:sp>
      <p:sp>
        <p:nvSpPr>
          <p:cNvPr id="71" name="文字方塊 70">
            <a:extLst>
              <a:ext uri="{FF2B5EF4-FFF2-40B4-BE49-F238E27FC236}">
                <a16:creationId xmlns:a16="http://schemas.microsoft.com/office/drawing/2014/main" id="{2203F24B-F548-2FE3-96CB-750DDDA07E98}"/>
              </a:ext>
            </a:extLst>
          </p:cNvPr>
          <p:cNvSpPr txBox="1"/>
          <p:nvPr/>
        </p:nvSpPr>
        <p:spPr>
          <a:xfrm>
            <a:off x="8116866" y="2525555"/>
            <a:ext cx="1158551"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S1000D XML</a:t>
            </a:r>
            <a:endParaRPr lang="en" altLang="zh-TW" sz="1050" dirty="0"/>
          </a:p>
        </p:txBody>
      </p:sp>
      <p:cxnSp>
        <p:nvCxnSpPr>
          <p:cNvPr id="72" name="直線箭頭接點 71">
            <a:extLst>
              <a:ext uri="{FF2B5EF4-FFF2-40B4-BE49-F238E27FC236}">
                <a16:creationId xmlns:a16="http://schemas.microsoft.com/office/drawing/2014/main" id="{0DEBE342-D881-06D0-95FC-0642D3B79133}"/>
              </a:ext>
            </a:extLst>
          </p:cNvPr>
          <p:cNvCxnSpPr>
            <a:cxnSpLocks/>
            <a:stCxn id="30" idx="6"/>
            <a:endCxn id="71" idx="1"/>
          </p:cNvCxnSpPr>
          <p:nvPr/>
        </p:nvCxnSpPr>
        <p:spPr>
          <a:xfrm flipV="1">
            <a:off x="7183355" y="2661490"/>
            <a:ext cx="933511" cy="3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橢圓 76">
            <a:extLst>
              <a:ext uri="{FF2B5EF4-FFF2-40B4-BE49-F238E27FC236}">
                <a16:creationId xmlns:a16="http://schemas.microsoft.com/office/drawing/2014/main" id="{5EB8E739-8802-2243-A196-1AB4DF2C6C2E}"/>
              </a:ext>
            </a:extLst>
          </p:cNvPr>
          <p:cNvSpPr/>
          <p:nvPr/>
        </p:nvSpPr>
        <p:spPr>
          <a:xfrm>
            <a:off x="7357007" y="3610989"/>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8" name="文字方塊 77">
            <a:extLst>
              <a:ext uri="{FF2B5EF4-FFF2-40B4-BE49-F238E27FC236}">
                <a16:creationId xmlns:a16="http://schemas.microsoft.com/office/drawing/2014/main" id="{1695C704-227A-558E-39DB-D01E30D2262D}"/>
              </a:ext>
            </a:extLst>
          </p:cNvPr>
          <p:cNvSpPr txBox="1"/>
          <p:nvPr/>
        </p:nvSpPr>
        <p:spPr>
          <a:xfrm>
            <a:off x="8348221" y="3272219"/>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Local accuracy (by modules)</a:t>
            </a:r>
            <a:endParaRPr lang="en" altLang="zh-TW" sz="1000" dirty="0">
              <a:solidFill>
                <a:schemeClr val="accent6">
                  <a:lumMod val="75000"/>
                </a:schemeClr>
              </a:solidFill>
            </a:endParaRPr>
          </a:p>
        </p:txBody>
      </p:sp>
      <p:cxnSp>
        <p:nvCxnSpPr>
          <p:cNvPr id="80" name="曲線接點 79">
            <a:extLst>
              <a:ext uri="{FF2B5EF4-FFF2-40B4-BE49-F238E27FC236}">
                <a16:creationId xmlns:a16="http://schemas.microsoft.com/office/drawing/2014/main" id="{0346B78F-F8E2-C597-5557-16FE8E41969F}"/>
              </a:ext>
            </a:extLst>
          </p:cNvPr>
          <p:cNvCxnSpPr>
            <a:cxnSpLocks/>
            <a:stCxn id="77" idx="6"/>
            <a:endCxn id="78" idx="1"/>
          </p:cNvCxnSpPr>
          <p:nvPr/>
        </p:nvCxnSpPr>
        <p:spPr>
          <a:xfrm flipV="1">
            <a:off x="7456349" y="3404403"/>
            <a:ext cx="891872" cy="256257"/>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2" name="橢圓 81">
            <a:extLst>
              <a:ext uri="{FF2B5EF4-FFF2-40B4-BE49-F238E27FC236}">
                <a16:creationId xmlns:a16="http://schemas.microsoft.com/office/drawing/2014/main" id="{45EE99AB-ADA3-6549-6ED5-D98CE647A751}"/>
              </a:ext>
            </a:extLst>
          </p:cNvPr>
          <p:cNvSpPr/>
          <p:nvPr/>
        </p:nvSpPr>
        <p:spPr>
          <a:xfrm>
            <a:off x="7521108" y="4267639"/>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3" name="文字方塊 82">
            <a:extLst>
              <a:ext uri="{FF2B5EF4-FFF2-40B4-BE49-F238E27FC236}">
                <a16:creationId xmlns:a16="http://schemas.microsoft.com/office/drawing/2014/main" id="{CCDD8FDD-6ED1-8072-B88D-EDB0C9DD111C}"/>
              </a:ext>
            </a:extLst>
          </p:cNvPr>
          <p:cNvSpPr txBox="1"/>
          <p:nvPr/>
        </p:nvSpPr>
        <p:spPr>
          <a:xfrm>
            <a:off x="8297810" y="3933164"/>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Global accuracy (by document)</a:t>
            </a:r>
            <a:endParaRPr lang="en" altLang="zh-TW" sz="1000" dirty="0">
              <a:solidFill>
                <a:schemeClr val="accent6">
                  <a:lumMod val="75000"/>
                </a:schemeClr>
              </a:solidFill>
            </a:endParaRPr>
          </a:p>
        </p:txBody>
      </p:sp>
      <p:cxnSp>
        <p:nvCxnSpPr>
          <p:cNvPr id="84" name="曲線接點 83">
            <a:extLst>
              <a:ext uri="{FF2B5EF4-FFF2-40B4-BE49-F238E27FC236}">
                <a16:creationId xmlns:a16="http://schemas.microsoft.com/office/drawing/2014/main" id="{D155AF65-477B-65EB-5401-35BC2C616215}"/>
              </a:ext>
            </a:extLst>
          </p:cNvPr>
          <p:cNvCxnSpPr>
            <a:cxnSpLocks/>
            <a:stCxn id="82" idx="6"/>
            <a:endCxn id="83" idx="1"/>
          </p:cNvCxnSpPr>
          <p:nvPr/>
        </p:nvCxnSpPr>
        <p:spPr>
          <a:xfrm flipV="1">
            <a:off x="7620450" y="4065348"/>
            <a:ext cx="677360" cy="251962"/>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9" name="文字方塊 88">
            <a:extLst>
              <a:ext uri="{FF2B5EF4-FFF2-40B4-BE49-F238E27FC236}">
                <a16:creationId xmlns:a16="http://schemas.microsoft.com/office/drawing/2014/main" id="{D6ACAEF8-E208-F99F-AB7C-45D36770E3E6}"/>
              </a:ext>
            </a:extLst>
          </p:cNvPr>
          <p:cNvSpPr txBox="1"/>
          <p:nvPr/>
        </p:nvSpPr>
        <p:spPr>
          <a:xfrm>
            <a:off x="4874086" y="1503463"/>
            <a:ext cx="2647022" cy="286810"/>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sz="1600" b="1" dirty="0"/>
              <a:t>BIKE, s1000d-tools-doc</a:t>
            </a:r>
            <a:endParaRPr lang="en" altLang="zh-TW" dirty="0"/>
          </a:p>
        </p:txBody>
      </p:sp>
      <p:cxnSp>
        <p:nvCxnSpPr>
          <p:cNvPr id="90" name="直線箭頭接點 89">
            <a:extLst>
              <a:ext uri="{FF2B5EF4-FFF2-40B4-BE49-F238E27FC236}">
                <a16:creationId xmlns:a16="http://schemas.microsoft.com/office/drawing/2014/main" id="{59659A10-6BD6-11E3-A732-681CE00ABA3A}"/>
              </a:ext>
            </a:extLst>
          </p:cNvPr>
          <p:cNvCxnSpPr>
            <a:cxnSpLocks/>
            <a:stCxn id="89" idx="2"/>
            <a:endCxn id="4" idx="0"/>
          </p:cNvCxnSpPr>
          <p:nvPr/>
        </p:nvCxnSpPr>
        <p:spPr>
          <a:xfrm>
            <a:off x="6197597" y="1790273"/>
            <a:ext cx="3" cy="7002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文字方塊 93">
            <a:extLst>
              <a:ext uri="{FF2B5EF4-FFF2-40B4-BE49-F238E27FC236}">
                <a16:creationId xmlns:a16="http://schemas.microsoft.com/office/drawing/2014/main" id="{B4C44402-95CF-944D-8019-E6C7404AE865}"/>
              </a:ext>
            </a:extLst>
          </p:cNvPr>
          <p:cNvSpPr txBox="1"/>
          <p:nvPr/>
        </p:nvSpPr>
        <p:spPr>
          <a:xfrm>
            <a:off x="5618321" y="2068260"/>
            <a:ext cx="1158551" cy="271869"/>
          </a:xfrm>
          <a:prstGeom prst="rect">
            <a:avLst/>
          </a:prstGeom>
          <a:solidFill>
            <a:schemeClr val="bg1"/>
          </a:solid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Finetuning</a:t>
            </a:r>
            <a:endParaRPr lang="en" altLang="zh-TW" sz="1050" dirty="0"/>
          </a:p>
        </p:txBody>
      </p:sp>
      <p:sp>
        <p:nvSpPr>
          <p:cNvPr id="98" name="文字方塊 97">
            <a:extLst>
              <a:ext uri="{FF2B5EF4-FFF2-40B4-BE49-F238E27FC236}">
                <a16:creationId xmlns:a16="http://schemas.microsoft.com/office/drawing/2014/main" id="{A2B987E6-7B16-4645-5AE1-54CF940D7A04}"/>
              </a:ext>
            </a:extLst>
          </p:cNvPr>
          <p:cNvSpPr txBox="1"/>
          <p:nvPr/>
        </p:nvSpPr>
        <p:spPr>
          <a:xfrm>
            <a:off x="134706" y="137067"/>
            <a:ext cx="11257194" cy="954107"/>
          </a:xfrm>
          <a:prstGeom prst="rect">
            <a:avLst/>
          </a:prstGeom>
          <a:noFill/>
        </p:spPr>
        <p:txBody>
          <a:bodyPr wrap="square">
            <a:spAutoFit/>
          </a:bodyPr>
          <a:lstStyle/>
          <a:p>
            <a:r>
              <a:rPr lang="en" altLang="zh-TW" sz="2800" b="1" dirty="0">
                <a:solidFill>
                  <a:srgbClr val="0070C0"/>
                </a:solidFill>
                <a:latin typeface="BiauKaiTC Regular" panose="03000500000000000000" pitchFamily="66" charset="-120"/>
                <a:ea typeface="BiauKaiTC Regular" panose="03000500000000000000" pitchFamily="66" charset="-120"/>
              </a:rPr>
              <a:t>S1000DForge: A Modular Framework for Generating Valid S1000D-Compliant XML Using Large Language Models</a:t>
            </a:r>
            <a:endParaRPr lang="zh-TW" altLang="en-US" sz="2800" b="1" dirty="0">
              <a:solidFill>
                <a:srgbClr val="0070C0"/>
              </a:solidFill>
              <a:latin typeface="BiauKaiTC Regular" panose="03000500000000000000" pitchFamily="66" charset="-120"/>
              <a:ea typeface="BiauKaiTC Regular" panose="03000500000000000000" pitchFamily="66" charset="-120"/>
            </a:endParaRPr>
          </a:p>
        </p:txBody>
      </p:sp>
      <p:sp>
        <p:nvSpPr>
          <p:cNvPr id="100" name="文字方塊 99">
            <a:extLst>
              <a:ext uri="{FF2B5EF4-FFF2-40B4-BE49-F238E27FC236}">
                <a16:creationId xmlns:a16="http://schemas.microsoft.com/office/drawing/2014/main" id="{934F58A6-134B-F856-1956-D6EE4547C3F3}"/>
              </a:ext>
            </a:extLst>
          </p:cNvPr>
          <p:cNvSpPr txBox="1"/>
          <p:nvPr/>
        </p:nvSpPr>
        <p:spPr>
          <a:xfrm>
            <a:off x="134706" y="3306188"/>
            <a:ext cx="4287575" cy="3061800"/>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spcBef>
                <a:spcPts val="1200"/>
              </a:spcBef>
              <a:buNone/>
            </a:pPr>
            <a:r>
              <a:rPr lang="en" altLang="zh-TW" sz="1600" b="1" dirty="0"/>
              <a:t>Major Contributions:</a:t>
            </a:r>
          </a:p>
          <a:p>
            <a:pPr>
              <a:spcBef>
                <a:spcPts val="1200"/>
              </a:spcBef>
            </a:pPr>
            <a:r>
              <a:rPr kumimoji="1" lang="en" altLang="zh-TW" sz="1050" dirty="0">
                <a:solidFill>
                  <a:schemeClr val="tx2"/>
                </a:solidFill>
                <a:latin typeface="BiauKaiTC Regular" panose="03000500000000000000" pitchFamily="66" charset="-120"/>
                <a:ea typeface="BiauKaiTC Regular" panose="03000500000000000000" pitchFamily="66" charset="-120"/>
              </a:rPr>
              <a:t>We propose S1000DForge, a novel LLM-guided XML generation framework that integrates probabilistic structure prediction (via Markov modeling) with formal grammar constraints (CFG and CSG), enabling automated generation of S1000D-compliant XML with high structural and semantic accuracy.</a:t>
            </a:r>
          </a:p>
          <a:p>
            <a:pPr>
              <a:spcBef>
                <a:spcPts val="1200"/>
              </a:spcBef>
            </a:pPr>
            <a:r>
              <a:rPr kumimoji="1" lang="en" altLang="zh-TW" sz="1050" dirty="0">
                <a:solidFill>
                  <a:schemeClr val="tx2"/>
                </a:solidFill>
                <a:latin typeface="BiauKaiTC Regular" panose="03000500000000000000" pitchFamily="66" charset="-120"/>
                <a:ea typeface="BiauKaiTC Regular" panose="03000500000000000000" pitchFamily="66" charset="-120"/>
              </a:rPr>
              <a:t>We demonstrate an iterative validation-and-repair mechanism that incorporates schema-level validation (using s1kd-tools) and grammar-level repair loops, allowing large language models to self-correct incomplete or ill-formed XML fragments through guided re-generation.</a:t>
            </a:r>
          </a:p>
          <a:p>
            <a:pPr>
              <a:spcBef>
                <a:spcPts val="1200"/>
              </a:spcBef>
            </a:pPr>
            <a:r>
              <a:rPr kumimoji="1" lang="en" altLang="zh-TW" sz="1050" dirty="0">
                <a:solidFill>
                  <a:schemeClr val="tx2"/>
                </a:solidFill>
                <a:latin typeface="BiauKaiTC Regular" panose="03000500000000000000" pitchFamily="66" charset="-120"/>
                <a:ea typeface="BiauKaiTC Regular" panose="03000500000000000000" pitchFamily="66" charset="-120"/>
              </a:rPr>
              <a:t>We conduct a user-centered evaluation through interviews and surveys with technical authors and S1000D practitioners, providing empirical evidence on the usability, accuracy, and trustworthiness of the S1000DForge system in real-world documentation workflows.</a:t>
            </a:r>
          </a:p>
        </p:txBody>
      </p:sp>
      <p:sp>
        <p:nvSpPr>
          <p:cNvPr id="101" name="文字方塊 100">
            <a:extLst>
              <a:ext uri="{FF2B5EF4-FFF2-40B4-BE49-F238E27FC236}">
                <a16:creationId xmlns:a16="http://schemas.microsoft.com/office/drawing/2014/main" id="{CD49D1A3-3C04-6E24-CBD3-429B1EF0E0A5}"/>
              </a:ext>
            </a:extLst>
          </p:cNvPr>
          <p:cNvSpPr txBox="1"/>
          <p:nvPr/>
        </p:nvSpPr>
        <p:spPr>
          <a:xfrm>
            <a:off x="9275417" y="1744148"/>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User acceptance test (UAT)</a:t>
            </a:r>
            <a:endParaRPr lang="en" altLang="zh-TW" sz="1000" dirty="0">
              <a:solidFill>
                <a:schemeClr val="accent6">
                  <a:lumMod val="75000"/>
                </a:schemeClr>
              </a:solidFill>
            </a:endParaRPr>
          </a:p>
        </p:txBody>
      </p:sp>
      <p:sp>
        <p:nvSpPr>
          <p:cNvPr id="102" name="橢圓 101">
            <a:extLst>
              <a:ext uri="{FF2B5EF4-FFF2-40B4-BE49-F238E27FC236}">
                <a16:creationId xmlns:a16="http://schemas.microsoft.com/office/drawing/2014/main" id="{AFCE5D15-348C-B028-DF0D-9CC41CF9F681}"/>
              </a:ext>
            </a:extLst>
          </p:cNvPr>
          <p:cNvSpPr/>
          <p:nvPr/>
        </p:nvSpPr>
        <p:spPr>
          <a:xfrm>
            <a:off x="9088825" y="2497040"/>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03" name="曲線接點 102">
            <a:extLst>
              <a:ext uri="{FF2B5EF4-FFF2-40B4-BE49-F238E27FC236}">
                <a16:creationId xmlns:a16="http://schemas.microsoft.com/office/drawing/2014/main" id="{0E136829-8750-D4A3-836B-3DDBDB623E4F}"/>
              </a:ext>
            </a:extLst>
          </p:cNvPr>
          <p:cNvCxnSpPr>
            <a:cxnSpLocks/>
            <a:stCxn id="102" idx="7"/>
            <a:endCxn id="101" idx="2"/>
          </p:cNvCxnSpPr>
          <p:nvPr/>
        </p:nvCxnSpPr>
        <p:spPr>
          <a:xfrm rot="5400000" flipH="1" flipV="1">
            <a:off x="9461785" y="1720350"/>
            <a:ext cx="503072" cy="1079405"/>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181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E37AD-F32E-DA6A-FC9C-0A586E913A7D}"/>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48A764BA-5D63-A417-6FEA-86B6820ACE85}"/>
              </a:ext>
            </a:extLst>
          </p:cNvPr>
          <p:cNvSpPr/>
          <p:nvPr/>
        </p:nvSpPr>
        <p:spPr>
          <a:xfrm>
            <a:off x="1441650" y="2193572"/>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User input</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(Markdown to S1000D modules, e.g., descriptive, procedural)</a:t>
            </a:r>
          </a:p>
        </p:txBody>
      </p:sp>
      <p:sp>
        <p:nvSpPr>
          <p:cNvPr id="8" name="橢圓 7">
            <a:extLst>
              <a:ext uri="{FF2B5EF4-FFF2-40B4-BE49-F238E27FC236}">
                <a16:creationId xmlns:a16="http://schemas.microsoft.com/office/drawing/2014/main" id="{EFBABBEE-4ACC-749F-C8E1-A15084C1074A}"/>
              </a:ext>
            </a:extLst>
          </p:cNvPr>
          <p:cNvSpPr/>
          <p:nvPr/>
        </p:nvSpPr>
        <p:spPr>
          <a:xfrm>
            <a:off x="7031776" y="2865000"/>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橢圓 9">
            <a:extLst>
              <a:ext uri="{FF2B5EF4-FFF2-40B4-BE49-F238E27FC236}">
                <a16:creationId xmlns:a16="http://schemas.microsoft.com/office/drawing/2014/main" id="{1BAC2661-564D-AD0D-9948-C5C4C7DA6C17}"/>
              </a:ext>
            </a:extLst>
          </p:cNvPr>
          <p:cNvSpPr/>
          <p:nvPr/>
        </p:nvSpPr>
        <p:spPr>
          <a:xfrm>
            <a:off x="5211846" y="3154609"/>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矩形 5">
            <a:extLst>
              <a:ext uri="{FF2B5EF4-FFF2-40B4-BE49-F238E27FC236}">
                <a16:creationId xmlns:a16="http://schemas.microsoft.com/office/drawing/2014/main" id="{C3D8F438-0FC8-DF68-75A0-B33AD6CC6E93}"/>
              </a:ext>
            </a:extLst>
          </p:cNvPr>
          <p:cNvSpPr/>
          <p:nvPr/>
        </p:nvSpPr>
        <p:spPr>
          <a:xfrm>
            <a:off x="5287634" y="4032697"/>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Local Syntax Check</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(XML-aware CSG parser)</a:t>
            </a:r>
          </a:p>
        </p:txBody>
      </p:sp>
      <p:cxnSp>
        <p:nvCxnSpPr>
          <p:cNvPr id="12" name="肘形接點 11">
            <a:extLst>
              <a:ext uri="{FF2B5EF4-FFF2-40B4-BE49-F238E27FC236}">
                <a16:creationId xmlns:a16="http://schemas.microsoft.com/office/drawing/2014/main" id="{0D611843-2149-3E00-78EC-695029B60A41}"/>
              </a:ext>
            </a:extLst>
          </p:cNvPr>
          <p:cNvCxnSpPr>
            <a:cxnSpLocks/>
            <a:stCxn id="8" idx="6"/>
            <a:endCxn id="6" idx="3"/>
          </p:cNvCxnSpPr>
          <p:nvPr/>
        </p:nvCxnSpPr>
        <p:spPr>
          <a:xfrm flipH="1">
            <a:off x="7107566" y="2940790"/>
            <a:ext cx="75789" cy="1559826"/>
          </a:xfrm>
          <a:prstGeom prst="bentConnector3">
            <a:avLst>
              <a:gd name="adj1" fmla="val -30162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肘形接點 12">
            <a:extLst>
              <a:ext uri="{FF2B5EF4-FFF2-40B4-BE49-F238E27FC236}">
                <a16:creationId xmlns:a16="http://schemas.microsoft.com/office/drawing/2014/main" id="{1EFB78F5-FBA6-9A94-C55F-C416933F19E4}"/>
              </a:ext>
            </a:extLst>
          </p:cNvPr>
          <p:cNvCxnSpPr>
            <a:cxnSpLocks/>
            <a:stCxn id="6" idx="1"/>
            <a:endCxn id="29" idx="2"/>
          </p:cNvCxnSpPr>
          <p:nvPr/>
        </p:nvCxnSpPr>
        <p:spPr>
          <a:xfrm rot="10800000">
            <a:off x="4489538" y="4000628"/>
            <a:ext cx="798097" cy="49998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D992BDB6-FB0C-4227-F94C-6B5FB37AB35D}"/>
              </a:ext>
            </a:extLst>
          </p:cNvPr>
          <p:cNvSpPr/>
          <p:nvPr/>
        </p:nvSpPr>
        <p:spPr>
          <a:xfrm>
            <a:off x="5287633" y="5574859"/>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Full Document Validator</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(s1kd-validate)</a:t>
            </a:r>
          </a:p>
        </p:txBody>
      </p:sp>
      <p:sp>
        <p:nvSpPr>
          <p:cNvPr id="17" name="橢圓 16">
            <a:extLst>
              <a:ext uri="{FF2B5EF4-FFF2-40B4-BE49-F238E27FC236}">
                <a16:creationId xmlns:a16="http://schemas.microsoft.com/office/drawing/2014/main" id="{5E4CE1C7-11AF-9E12-F805-F350B19EC735}"/>
              </a:ext>
            </a:extLst>
          </p:cNvPr>
          <p:cNvSpPr/>
          <p:nvPr/>
        </p:nvSpPr>
        <p:spPr>
          <a:xfrm>
            <a:off x="7031776" y="2581102"/>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橢圓 17">
            <a:extLst>
              <a:ext uri="{FF2B5EF4-FFF2-40B4-BE49-F238E27FC236}">
                <a16:creationId xmlns:a16="http://schemas.microsoft.com/office/drawing/2014/main" id="{D9F5F41F-6AEA-0D51-217D-CAF75F1DA668}"/>
              </a:ext>
            </a:extLst>
          </p:cNvPr>
          <p:cNvSpPr/>
          <p:nvPr/>
        </p:nvSpPr>
        <p:spPr>
          <a:xfrm>
            <a:off x="5211846" y="2870155"/>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9" name="肘形接點 18">
            <a:extLst>
              <a:ext uri="{FF2B5EF4-FFF2-40B4-BE49-F238E27FC236}">
                <a16:creationId xmlns:a16="http://schemas.microsoft.com/office/drawing/2014/main" id="{633357F5-CB10-9DF1-454F-F2E37127B4DC}"/>
              </a:ext>
            </a:extLst>
          </p:cNvPr>
          <p:cNvCxnSpPr>
            <a:cxnSpLocks/>
            <a:stCxn id="17" idx="6"/>
            <a:endCxn id="16" idx="3"/>
          </p:cNvCxnSpPr>
          <p:nvPr/>
        </p:nvCxnSpPr>
        <p:spPr>
          <a:xfrm flipH="1">
            <a:off x="7107565" y="2656892"/>
            <a:ext cx="75790" cy="3385886"/>
          </a:xfrm>
          <a:prstGeom prst="bentConnector3">
            <a:avLst>
              <a:gd name="adj1" fmla="val -60586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肘形接點 22">
            <a:extLst>
              <a:ext uri="{FF2B5EF4-FFF2-40B4-BE49-F238E27FC236}">
                <a16:creationId xmlns:a16="http://schemas.microsoft.com/office/drawing/2014/main" id="{7D649813-57A1-3133-6B7D-32107D5BCA97}"/>
              </a:ext>
            </a:extLst>
          </p:cNvPr>
          <p:cNvCxnSpPr>
            <a:cxnSpLocks/>
            <a:stCxn id="16" idx="1"/>
            <a:endCxn id="14" idx="2"/>
          </p:cNvCxnSpPr>
          <p:nvPr/>
        </p:nvCxnSpPr>
        <p:spPr>
          <a:xfrm rot="10800000">
            <a:off x="3579573" y="4000628"/>
            <a:ext cx="1708060" cy="204215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橢圓 29">
            <a:extLst>
              <a:ext uri="{FF2B5EF4-FFF2-40B4-BE49-F238E27FC236}">
                <a16:creationId xmlns:a16="http://schemas.microsoft.com/office/drawing/2014/main" id="{E8D8C874-2879-DD92-FDC2-DB8119F55064}"/>
              </a:ext>
            </a:extLst>
          </p:cNvPr>
          <p:cNvSpPr/>
          <p:nvPr/>
        </p:nvSpPr>
        <p:spPr>
          <a:xfrm>
            <a:off x="7031775" y="3154609"/>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 name="橢圓 30">
            <a:extLst>
              <a:ext uri="{FF2B5EF4-FFF2-40B4-BE49-F238E27FC236}">
                <a16:creationId xmlns:a16="http://schemas.microsoft.com/office/drawing/2014/main" id="{35E9CA92-6626-E974-5F5B-7B71AAA07B10}"/>
              </a:ext>
            </a:extLst>
          </p:cNvPr>
          <p:cNvSpPr/>
          <p:nvPr/>
        </p:nvSpPr>
        <p:spPr>
          <a:xfrm>
            <a:off x="5211846" y="2585701"/>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矩形 3">
            <a:extLst>
              <a:ext uri="{FF2B5EF4-FFF2-40B4-BE49-F238E27FC236}">
                <a16:creationId xmlns:a16="http://schemas.microsoft.com/office/drawing/2014/main" id="{FC595DB1-62DD-959A-BBE2-D4EC3000693B}"/>
              </a:ext>
            </a:extLst>
          </p:cNvPr>
          <p:cNvSpPr/>
          <p:nvPr/>
        </p:nvSpPr>
        <p:spPr>
          <a:xfrm>
            <a:off x="5287634" y="2490534"/>
            <a:ext cx="1819932" cy="935837"/>
          </a:xfrm>
          <a:prstGeom prst="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Structure Inference Layer</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(GPT-2 / GPT-J + </a:t>
            </a:r>
            <a:r>
              <a:rPr kumimoji="1" lang="en-US" altLang="zh-TW" sz="1050" dirty="0" err="1">
                <a:solidFill>
                  <a:schemeClr val="tx2"/>
                </a:solidFill>
                <a:latin typeface="BiauKaiTC Regular" panose="03000500000000000000" pitchFamily="66" charset="-120"/>
                <a:ea typeface="BiauKaiTC Regular" panose="03000500000000000000" pitchFamily="66" charset="-120"/>
              </a:rPr>
              <a:t>LoRA</a:t>
            </a:r>
            <a:r>
              <a:rPr kumimoji="1" lang="en-US" altLang="zh-TW" sz="1050" dirty="0">
                <a:solidFill>
                  <a:schemeClr val="tx2"/>
                </a:solidFill>
                <a:latin typeface="BiauKaiTC Regular" panose="03000500000000000000" pitchFamily="66" charset="-120"/>
                <a:ea typeface="BiauKaiTC Regular" panose="03000500000000000000" pitchFamily="66" charset="-120"/>
              </a:rPr>
              <a:t>)</a:t>
            </a:r>
          </a:p>
        </p:txBody>
      </p:sp>
      <p:cxnSp>
        <p:nvCxnSpPr>
          <p:cNvPr id="58" name="直線箭頭接點 57">
            <a:extLst>
              <a:ext uri="{FF2B5EF4-FFF2-40B4-BE49-F238E27FC236}">
                <a16:creationId xmlns:a16="http://schemas.microsoft.com/office/drawing/2014/main" id="{39922872-8378-1B6A-7C23-5A5778A87133}"/>
              </a:ext>
            </a:extLst>
          </p:cNvPr>
          <p:cNvCxnSpPr>
            <a:cxnSpLocks/>
            <a:stCxn id="5" idx="3"/>
            <a:endCxn id="31" idx="2"/>
          </p:cNvCxnSpPr>
          <p:nvPr/>
        </p:nvCxnSpPr>
        <p:spPr>
          <a:xfrm>
            <a:off x="3261582" y="2661491"/>
            <a:ext cx="19502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730848E3-ED60-A1D6-0811-511AAFB9D682}"/>
              </a:ext>
            </a:extLst>
          </p:cNvPr>
          <p:cNvSpPr txBox="1"/>
          <p:nvPr/>
        </p:nvSpPr>
        <p:spPr>
          <a:xfrm>
            <a:off x="5287631" y="3576776"/>
            <a:ext cx="1819933" cy="451406"/>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sz="1400" b="1" dirty="0"/>
              <a:t>Inner Loop</a:t>
            </a:r>
          </a:p>
          <a:p>
            <a:pPr marL="0" indent="0" algn="ctr">
              <a:buNone/>
            </a:pPr>
            <a:r>
              <a:rPr lang="en" altLang="zh-TW" sz="1050" dirty="0"/>
              <a:t>Error Recovery Loop #1</a:t>
            </a:r>
            <a:endParaRPr lang="zh-TW" altLang="en-US" sz="1050" dirty="0"/>
          </a:p>
        </p:txBody>
      </p:sp>
      <p:sp>
        <p:nvSpPr>
          <p:cNvPr id="63" name="文字方塊 62">
            <a:extLst>
              <a:ext uri="{FF2B5EF4-FFF2-40B4-BE49-F238E27FC236}">
                <a16:creationId xmlns:a16="http://schemas.microsoft.com/office/drawing/2014/main" id="{65D8F0BF-E8D4-7C30-BFEE-3260BE967A2D}"/>
              </a:ext>
            </a:extLst>
          </p:cNvPr>
          <p:cNvSpPr txBox="1"/>
          <p:nvPr/>
        </p:nvSpPr>
        <p:spPr>
          <a:xfrm>
            <a:off x="5287631" y="5128296"/>
            <a:ext cx="1819933" cy="451406"/>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sz="1400" b="1" dirty="0"/>
              <a:t>Outer Loop</a:t>
            </a:r>
          </a:p>
          <a:p>
            <a:pPr marL="0" indent="0" algn="ctr">
              <a:buNone/>
            </a:pPr>
            <a:r>
              <a:rPr lang="en" altLang="zh-TW" sz="1050" dirty="0"/>
              <a:t>Error Recovery Loop #2</a:t>
            </a:r>
            <a:endParaRPr lang="zh-TW" altLang="en-US" sz="1050" dirty="0"/>
          </a:p>
        </p:txBody>
      </p:sp>
      <p:cxnSp>
        <p:nvCxnSpPr>
          <p:cNvPr id="66" name="直線箭頭接點 65">
            <a:extLst>
              <a:ext uri="{FF2B5EF4-FFF2-40B4-BE49-F238E27FC236}">
                <a16:creationId xmlns:a16="http://schemas.microsoft.com/office/drawing/2014/main" id="{2F4B9812-CC8C-0622-3334-E424884166D6}"/>
              </a:ext>
            </a:extLst>
          </p:cNvPr>
          <p:cNvCxnSpPr>
            <a:cxnSpLocks/>
            <a:stCxn id="67" idx="3"/>
            <a:endCxn id="5" idx="1"/>
          </p:cNvCxnSpPr>
          <p:nvPr/>
        </p:nvCxnSpPr>
        <p:spPr>
          <a:xfrm>
            <a:off x="1235530" y="2661491"/>
            <a:ext cx="2061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文字方塊 66">
            <a:extLst>
              <a:ext uri="{FF2B5EF4-FFF2-40B4-BE49-F238E27FC236}">
                <a16:creationId xmlns:a16="http://schemas.microsoft.com/office/drawing/2014/main" id="{3385B89C-1338-E12D-C16E-92319334711F}"/>
              </a:ext>
            </a:extLst>
          </p:cNvPr>
          <p:cNvSpPr txBox="1"/>
          <p:nvPr/>
        </p:nvSpPr>
        <p:spPr>
          <a:xfrm>
            <a:off x="88504" y="2525556"/>
            <a:ext cx="1147026"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Markdown</a:t>
            </a:r>
            <a:endParaRPr lang="en" altLang="zh-TW" sz="1050" dirty="0"/>
          </a:p>
        </p:txBody>
      </p:sp>
      <p:sp>
        <p:nvSpPr>
          <p:cNvPr id="71" name="文字方塊 70">
            <a:extLst>
              <a:ext uri="{FF2B5EF4-FFF2-40B4-BE49-F238E27FC236}">
                <a16:creationId xmlns:a16="http://schemas.microsoft.com/office/drawing/2014/main" id="{96B56256-5A96-9315-45EF-542835020F35}"/>
              </a:ext>
            </a:extLst>
          </p:cNvPr>
          <p:cNvSpPr txBox="1"/>
          <p:nvPr/>
        </p:nvSpPr>
        <p:spPr>
          <a:xfrm>
            <a:off x="9133618" y="3094598"/>
            <a:ext cx="1158551"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S1000D XML</a:t>
            </a:r>
            <a:endParaRPr lang="en" altLang="zh-TW" sz="1050" dirty="0"/>
          </a:p>
        </p:txBody>
      </p:sp>
      <p:cxnSp>
        <p:nvCxnSpPr>
          <p:cNvPr id="72" name="直線箭頭接點 71">
            <a:extLst>
              <a:ext uri="{FF2B5EF4-FFF2-40B4-BE49-F238E27FC236}">
                <a16:creationId xmlns:a16="http://schemas.microsoft.com/office/drawing/2014/main" id="{E6E37888-C3FB-2625-0982-0EFEB89FD034}"/>
              </a:ext>
            </a:extLst>
          </p:cNvPr>
          <p:cNvCxnSpPr>
            <a:cxnSpLocks/>
            <a:stCxn id="30" idx="6"/>
            <a:endCxn id="71" idx="1"/>
          </p:cNvCxnSpPr>
          <p:nvPr/>
        </p:nvCxnSpPr>
        <p:spPr>
          <a:xfrm>
            <a:off x="7183354" y="3230399"/>
            <a:ext cx="1950264" cy="1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橢圓 76">
            <a:extLst>
              <a:ext uri="{FF2B5EF4-FFF2-40B4-BE49-F238E27FC236}">
                <a16:creationId xmlns:a16="http://schemas.microsoft.com/office/drawing/2014/main" id="{7FB19139-743B-D21A-37A8-5C2BB4B2B6D2}"/>
              </a:ext>
            </a:extLst>
          </p:cNvPr>
          <p:cNvSpPr/>
          <p:nvPr/>
        </p:nvSpPr>
        <p:spPr>
          <a:xfrm>
            <a:off x="9295983" y="5913629"/>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8" name="文字方塊 77">
            <a:extLst>
              <a:ext uri="{FF2B5EF4-FFF2-40B4-BE49-F238E27FC236}">
                <a16:creationId xmlns:a16="http://schemas.microsoft.com/office/drawing/2014/main" id="{1E25A8EE-4B37-D771-F5EA-BC59689AE84B}"/>
              </a:ext>
            </a:extLst>
          </p:cNvPr>
          <p:cNvSpPr txBox="1"/>
          <p:nvPr/>
        </p:nvSpPr>
        <p:spPr>
          <a:xfrm>
            <a:off x="10287197" y="5574859"/>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Local accuracy (by modules)</a:t>
            </a:r>
            <a:endParaRPr lang="en" altLang="zh-TW" sz="1000" dirty="0">
              <a:solidFill>
                <a:schemeClr val="accent6">
                  <a:lumMod val="75000"/>
                </a:schemeClr>
              </a:solidFill>
            </a:endParaRPr>
          </a:p>
        </p:txBody>
      </p:sp>
      <p:cxnSp>
        <p:nvCxnSpPr>
          <p:cNvPr id="80" name="曲線接點 79">
            <a:extLst>
              <a:ext uri="{FF2B5EF4-FFF2-40B4-BE49-F238E27FC236}">
                <a16:creationId xmlns:a16="http://schemas.microsoft.com/office/drawing/2014/main" id="{37F53473-BA24-FFC2-4562-91A58DFD5055}"/>
              </a:ext>
            </a:extLst>
          </p:cNvPr>
          <p:cNvCxnSpPr>
            <a:cxnSpLocks/>
            <a:stCxn id="77" idx="6"/>
            <a:endCxn id="78" idx="1"/>
          </p:cNvCxnSpPr>
          <p:nvPr/>
        </p:nvCxnSpPr>
        <p:spPr>
          <a:xfrm flipV="1">
            <a:off x="9395325" y="5707043"/>
            <a:ext cx="891872" cy="256257"/>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2" name="橢圓 81">
            <a:extLst>
              <a:ext uri="{FF2B5EF4-FFF2-40B4-BE49-F238E27FC236}">
                <a16:creationId xmlns:a16="http://schemas.microsoft.com/office/drawing/2014/main" id="{492C1ED6-D1CC-D985-0A8A-8D8005FAA3C1}"/>
              </a:ext>
            </a:extLst>
          </p:cNvPr>
          <p:cNvSpPr/>
          <p:nvPr/>
        </p:nvSpPr>
        <p:spPr>
          <a:xfrm>
            <a:off x="9460084" y="6570279"/>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3" name="文字方塊 82">
            <a:extLst>
              <a:ext uri="{FF2B5EF4-FFF2-40B4-BE49-F238E27FC236}">
                <a16:creationId xmlns:a16="http://schemas.microsoft.com/office/drawing/2014/main" id="{0A0C975A-F72E-FAE1-3D89-4F83D1C7F9A9}"/>
              </a:ext>
            </a:extLst>
          </p:cNvPr>
          <p:cNvSpPr txBox="1"/>
          <p:nvPr/>
        </p:nvSpPr>
        <p:spPr>
          <a:xfrm>
            <a:off x="10236786" y="6235804"/>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Global accuracy (by document)</a:t>
            </a:r>
            <a:endParaRPr lang="en" altLang="zh-TW" sz="1000" dirty="0">
              <a:solidFill>
                <a:schemeClr val="accent6">
                  <a:lumMod val="75000"/>
                </a:schemeClr>
              </a:solidFill>
            </a:endParaRPr>
          </a:p>
        </p:txBody>
      </p:sp>
      <p:cxnSp>
        <p:nvCxnSpPr>
          <p:cNvPr id="84" name="曲線接點 83">
            <a:extLst>
              <a:ext uri="{FF2B5EF4-FFF2-40B4-BE49-F238E27FC236}">
                <a16:creationId xmlns:a16="http://schemas.microsoft.com/office/drawing/2014/main" id="{161D8015-86E3-C79A-AAFE-EEB98C6C6994}"/>
              </a:ext>
            </a:extLst>
          </p:cNvPr>
          <p:cNvCxnSpPr>
            <a:cxnSpLocks/>
            <a:stCxn id="82" idx="6"/>
            <a:endCxn id="83" idx="1"/>
          </p:cNvCxnSpPr>
          <p:nvPr/>
        </p:nvCxnSpPr>
        <p:spPr>
          <a:xfrm flipV="1">
            <a:off x="9559426" y="6367988"/>
            <a:ext cx="677360" cy="251962"/>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9" name="文字方塊 88">
            <a:extLst>
              <a:ext uri="{FF2B5EF4-FFF2-40B4-BE49-F238E27FC236}">
                <a16:creationId xmlns:a16="http://schemas.microsoft.com/office/drawing/2014/main" id="{5398248D-B6E4-BB61-68D9-9A8AA879B421}"/>
              </a:ext>
            </a:extLst>
          </p:cNvPr>
          <p:cNvSpPr txBox="1"/>
          <p:nvPr/>
        </p:nvSpPr>
        <p:spPr>
          <a:xfrm>
            <a:off x="4874086" y="1503463"/>
            <a:ext cx="2647022" cy="286810"/>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sz="1600" b="1" dirty="0"/>
              <a:t>BIKE, s1000d-tools-doc</a:t>
            </a:r>
            <a:endParaRPr lang="en" altLang="zh-TW" dirty="0"/>
          </a:p>
        </p:txBody>
      </p:sp>
      <p:cxnSp>
        <p:nvCxnSpPr>
          <p:cNvPr id="90" name="直線箭頭接點 89">
            <a:extLst>
              <a:ext uri="{FF2B5EF4-FFF2-40B4-BE49-F238E27FC236}">
                <a16:creationId xmlns:a16="http://schemas.microsoft.com/office/drawing/2014/main" id="{34A84CFD-E71E-8343-E884-4E5795E7BB76}"/>
              </a:ext>
            </a:extLst>
          </p:cNvPr>
          <p:cNvCxnSpPr>
            <a:cxnSpLocks/>
            <a:stCxn id="89" idx="2"/>
            <a:endCxn id="4" idx="0"/>
          </p:cNvCxnSpPr>
          <p:nvPr/>
        </p:nvCxnSpPr>
        <p:spPr>
          <a:xfrm>
            <a:off x="6197597" y="1790273"/>
            <a:ext cx="3" cy="7002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文字方塊 93">
            <a:extLst>
              <a:ext uri="{FF2B5EF4-FFF2-40B4-BE49-F238E27FC236}">
                <a16:creationId xmlns:a16="http://schemas.microsoft.com/office/drawing/2014/main" id="{8F6A1E7A-8B7D-CBD9-39AC-0C8F11923259}"/>
              </a:ext>
            </a:extLst>
          </p:cNvPr>
          <p:cNvSpPr txBox="1"/>
          <p:nvPr/>
        </p:nvSpPr>
        <p:spPr>
          <a:xfrm>
            <a:off x="5618321" y="2068260"/>
            <a:ext cx="1158551" cy="271869"/>
          </a:xfrm>
          <a:prstGeom prst="rect">
            <a:avLst/>
          </a:prstGeom>
          <a:solidFill>
            <a:schemeClr val="bg1"/>
          </a:solid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Finetuning</a:t>
            </a:r>
            <a:endParaRPr lang="en" altLang="zh-TW" sz="1050" dirty="0"/>
          </a:p>
        </p:txBody>
      </p:sp>
      <p:sp>
        <p:nvSpPr>
          <p:cNvPr id="98" name="文字方塊 97">
            <a:extLst>
              <a:ext uri="{FF2B5EF4-FFF2-40B4-BE49-F238E27FC236}">
                <a16:creationId xmlns:a16="http://schemas.microsoft.com/office/drawing/2014/main" id="{32A249A1-827D-3B2A-F02D-AF761080E0A5}"/>
              </a:ext>
            </a:extLst>
          </p:cNvPr>
          <p:cNvSpPr txBox="1"/>
          <p:nvPr/>
        </p:nvSpPr>
        <p:spPr>
          <a:xfrm>
            <a:off x="134706" y="137067"/>
            <a:ext cx="11257194" cy="954107"/>
          </a:xfrm>
          <a:prstGeom prst="rect">
            <a:avLst/>
          </a:prstGeom>
          <a:noFill/>
        </p:spPr>
        <p:txBody>
          <a:bodyPr wrap="square">
            <a:spAutoFit/>
          </a:bodyPr>
          <a:lstStyle/>
          <a:p>
            <a:r>
              <a:rPr lang="en" altLang="zh-TW" sz="2800" b="1" dirty="0">
                <a:solidFill>
                  <a:srgbClr val="0070C0"/>
                </a:solidFill>
                <a:latin typeface="BiauKaiTC Regular" panose="03000500000000000000" pitchFamily="66" charset="-120"/>
                <a:ea typeface="BiauKaiTC Regular" panose="03000500000000000000" pitchFamily="66" charset="-120"/>
              </a:rPr>
              <a:t>S1000DForge: A Modular Framework for Generating Valid S1000D-Compliant XML Using Large Language Models</a:t>
            </a:r>
            <a:endParaRPr lang="zh-TW" altLang="en-US" sz="2800" b="1" dirty="0">
              <a:solidFill>
                <a:srgbClr val="0070C0"/>
              </a:solidFill>
              <a:latin typeface="BiauKaiTC Regular" panose="03000500000000000000" pitchFamily="66" charset="-120"/>
              <a:ea typeface="BiauKaiTC Regular" panose="03000500000000000000" pitchFamily="66" charset="-120"/>
            </a:endParaRPr>
          </a:p>
        </p:txBody>
      </p:sp>
      <p:sp>
        <p:nvSpPr>
          <p:cNvPr id="100" name="文字方塊 99">
            <a:extLst>
              <a:ext uri="{FF2B5EF4-FFF2-40B4-BE49-F238E27FC236}">
                <a16:creationId xmlns:a16="http://schemas.microsoft.com/office/drawing/2014/main" id="{D73C88F7-0A6B-6E46-DE3B-AD661F91B80B}"/>
              </a:ext>
            </a:extLst>
          </p:cNvPr>
          <p:cNvSpPr txBox="1"/>
          <p:nvPr/>
        </p:nvSpPr>
        <p:spPr>
          <a:xfrm>
            <a:off x="-2695652" y="3840866"/>
            <a:ext cx="4287575" cy="3061800"/>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spcBef>
                <a:spcPts val="1200"/>
              </a:spcBef>
              <a:buNone/>
            </a:pPr>
            <a:r>
              <a:rPr lang="en" altLang="zh-TW" sz="1600" b="1" dirty="0"/>
              <a:t>Major Contributions:</a:t>
            </a:r>
          </a:p>
          <a:p>
            <a:pPr>
              <a:spcBef>
                <a:spcPts val="1200"/>
              </a:spcBef>
            </a:pPr>
            <a:r>
              <a:rPr kumimoji="1" lang="en" altLang="zh-TW" sz="1050" dirty="0">
                <a:solidFill>
                  <a:schemeClr val="tx2"/>
                </a:solidFill>
                <a:latin typeface="BiauKaiTC Regular" panose="03000500000000000000" pitchFamily="66" charset="-120"/>
                <a:ea typeface="BiauKaiTC Regular" panose="03000500000000000000" pitchFamily="66" charset="-120"/>
              </a:rPr>
              <a:t>We propose S1000DForge, a novel LLM-guided XML generation framework that integrates probabilistic structure prediction (via Markov modeling) with formal grammar constraints (CFG and CSG), enabling automated generation of S1000D-compliant XML with high structural and semantic accuracy.</a:t>
            </a:r>
          </a:p>
          <a:p>
            <a:pPr>
              <a:spcBef>
                <a:spcPts val="1200"/>
              </a:spcBef>
            </a:pPr>
            <a:r>
              <a:rPr kumimoji="1" lang="en" altLang="zh-TW" sz="1050" dirty="0">
                <a:solidFill>
                  <a:schemeClr val="tx2"/>
                </a:solidFill>
                <a:latin typeface="BiauKaiTC Regular" panose="03000500000000000000" pitchFamily="66" charset="-120"/>
                <a:ea typeface="BiauKaiTC Regular" panose="03000500000000000000" pitchFamily="66" charset="-120"/>
              </a:rPr>
              <a:t>We demonstrate an iterative validation-and-repair mechanism that incorporates schema-level validation (using s1kd-tools) and grammar-level repair loops, allowing large language models to self-correct incomplete or ill-formed XML fragments through guided re-generation.</a:t>
            </a:r>
          </a:p>
          <a:p>
            <a:pPr>
              <a:spcBef>
                <a:spcPts val="1200"/>
              </a:spcBef>
            </a:pPr>
            <a:r>
              <a:rPr kumimoji="1" lang="en" altLang="zh-TW" sz="1050" dirty="0">
                <a:solidFill>
                  <a:schemeClr val="tx2"/>
                </a:solidFill>
                <a:latin typeface="BiauKaiTC Regular" panose="03000500000000000000" pitchFamily="66" charset="-120"/>
                <a:ea typeface="BiauKaiTC Regular" panose="03000500000000000000" pitchFamily="66" charset="-120"/>
              </a:rPr>
              <a:t>We conduct a user-centered evaluation through interviews and surveys with technical authors and S1000D practitioners, providing empirical evidence on the usability, accuracy, and trustworthiness of the S1000DForge system in real-world documentation workflows.</a:t>
            </a:r>
          </a:p>
        </p:txBody>
      </p:sp>
      <p:sp>
        <p:nvSpPr>
          <p:cNvPr id="101" name="文字方塊 100">
            <a:extLst>
              <a:ext uri="{FF2B5EF4-FFF2-40B4-BE49-F238E27FC236}">
                <a16:creationId xmlns:a16="http://schemas.microsoft.com/office/drawing/2014/main" id="{D404BB2A-3918-D208-E3CE-D921EA7CF9BA}"/>
              </a:ext>
            </a:extLst>
          </p:cNvPr>
          <p:cNvSpPr txBox="1"/>
          <p:nvPr/>
        </p:nvSpPr>
        <p:spPr>
          <a:xfrm>
            <a:off x="10102080" y="826806"/>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User acceptance test (UAT)</a:t>
            </a:r>
            <a:endParaRPr lang="en" altLang="zh-TW" sz="1000" dirty="0">
              <a:solidFill>
                <a:schemeClr val="accent6">
                  <a:lumMod val="75000"/>
                </a:schemeClr>
              </a:solidFill>
            </a:endParaRPr>
          </a:p>
        </p:txBody>
      </p:sp>
      <p:sp>
        <p:nvSpPr>
          <p:cNvPr id="102" name="橢圓 101">
            <a:extLst>
              <a:ext uri="{FF2B5EF4-FFF2-40B4-BE49-F238E27FC236}">
                <a16:creationId xmlns:a16="http://schemas.microsoft.com/office/drawing/2014/main" id="{D5DA67C9-32EC-CD54-F9CF-6D874E91778D}"/>
              </a:ext>
            </a:extLst>
          </p:cNvPr>
          <p:cNvSpPr/>
          <p:nvPr/>
        </p:nvSpPr>
        <p:spPr>
          <a:xfrm>
            <a:off x="9915488" y="1579698"/>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03" name="曲線接點 102">
            <a:extLst>
              <a:ext uri="{FF2B5EF4-FFF2-40B4-BE49-F238E27FC236}">
                <a16:creationId xmlns:a16="http://schemas.microsoft.com/office/drawing/2014/main" id="{E83ACAEB-F299-81B6-A344-FE01F7D72DC8}"/>
              </a:ext>
            </a:extLst>
          </p:cNvPr>
          <p:cNvCxnSpPr>
            <a:cxnSpLocks/>
            <a:stCxn id="102" idx="7"/>
            <a:endCxn id="101" idx="2"/>
          </p:cNvCxnSpPr>
          <p:nvPr/>
        </p:nvCxnSpPr>
        <p:spPr>
          <a:xfrm rot="5400000" flipH="1" flipV="1">
            <a:off x="10288448" y="803008"/>
            <a:ext cx="503072" cy="1079405"/>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5CAD9947-ADA8-8F57-2758-8EA1B44BF024}"/>
              </a:ext>
            </a:extLst>
          </p:cNvPr>
          <p:cNvSpPr/>
          <p:nvPr/>
        </p:nvSpPr>
        <p:spPr>
          <a:xfrm>
            <a:off x="3155422" y="3512829"/>
            <a:ext cx="848301" cy="48779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000" b="1" dirty="0">
                <a:solidFill>
                  <a:schemeClr val="bg2"/>
                </a:solidFill>
                <a:latin typeface="BiauKaiTC Regular" panose="03000500000000000000" pitchFamily="66" charset="-120"/>
                <a:ea typeface="BiauKaiTC Regular" panose="03000500000000000000" pitchFamily="66" charset="-120"/>
              </a:rPr>
              <a:t>Prompt Engineering</a:t>
            </a:r>
            <a:endParaRPr kumimoji="1" lang="en-US" altLang="zh-TW" sz="1000" dirty="0">
              <a:solidFill>
                <a:schemeClr val="bg2"/>
              </a:solidFill>
              <a:latin typeface="BiauKaiTC Regular" panose="03000500000000000000" pitchFamily="66" charset="-120"/>
              <a:ea typeface="BiauKaiTC Regular" panose="03000500000000000000" pitchFamily="66" charset="-120"/>
            </a:endParaRPr>
          </a:p>
        </p:txBody>
      </p:sp>
      <p:cxnSp>
        <p:nvCxnSpPr>
          <p:cNvPr id="24" name="肘形接點 23">
            <a:extLst>
              <a:ext uri="{FF2B5EF4-FFF2-40B4-BE49-F238E27FC236}">
                <a16:creationId xmlns:a16="http://schemas.microsoft.com/office/drawing/2014/main" id="{EEF88A71-284C-2DC6-85B4-6755677C6856}"/>
              </a:ext>
            </a:extLst>
          </p:cNvPr>
          <p:cNvCxnSpPr>
            <a:cxnSpLocks/>
            <a:stCxn id="14" idx="0"/>
            <a:endCxn id="18" idx="2"/>
          </p:cNvCxnSpPr>
          <p:nvPr/>
        </p:nvCxnSpPr>
        <p:spPr>
          <a:xfrm rot="5400000" flipH="1" flipV="1">
            <a:off x="4112267" y="2413251"/>
            <a:ext cx="566884" cy="16322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1E79B5CA-F257-7EA7-09C0-CE8E0206355E}"/>
              </a:ext>
            </a:extLst>
          </p:cNvPr>
          <p:cNvSpPr/>
          <p:nvPr/>
        </p:nvSpPr>
        <p:spPr>
          <a:xfrm>
            <a:off x="4065386" y="3512829"/>
            <a:ext cx="848301" cy="48779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000" b="1" dirty="0">
                <a:solidFill>
                  <a:schemeClr val="bg2"/>
                </a:solidFill>
                <a:latin typeface="BiauKaiTC Regular" panose="03000500000000000000" pitchFamily="66" charset="-120"/>
                <a:ea typeface="BiauKaiTC Regular" panose="03000500000000000000" pitchFamily="66" charset="-120"/>
              </a:rPr>
              <a:t>Prompt Engineering</a:t>
            </a:r>
            <a:endParaRPr kumimoji="1" lang="en-US" altLang="zh-TW" sz="1000" dirty="0">
              <a:solidFill>
                <a:schemeClr val="bg2"/>
              </a:solidFill>
              <a:latin typeface="BiauKaiTC Regular" panose="03000500000000000000" pitchFamily="66" charset="-120"/>
              <a:ea typeface="BiauKaiTC Regular" panose="03000500000000000000" pitchFamily="66" charset="-120"/>
            </a:endParaRPr>
          </a:p>
        </p:txBody>
      </p:sp>
      <p:cxnSp>
        <p:nvCxnSpPr>
          <p:cNvPr id="35" name="肘形接點 34">
            <a:extLst>
              <a:ext uri="{FF2B5EF4-FFF2-40B4-BE49-F238E27FC236}">
                <a16:creationId xmlns:a16="http://schemas.microsoft.com/office/drawing/2014/main" id="{453352B2-9A80-1484-3B72-927F9F5B2889}"/>
              </a:ext>
            </a:extLst>
          </p:cNvPr>
          <p:cNvCxnSpPr>
            <a:cxnSpLocks/>
            <a:stCxn id="29" idx="0"/>
            <a:endCxn id="10" idx="2"/>
          </p:cNvCxnSpPr>
          <p:nvPr/>
        </p:nvCxnSpPr>
        <p:spPr>
          <a:xfrm rot="5400000" flipH="1" flipV="1">
            <a:off x="4709476" y="3010460"/>
            <a:ext cx="282430" cy="72230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10F14D5B-828E-8694-4623-373990B50144}"/>
              </a:ext>
            </a:extLst>
          </p:cNvPr>
          <p:cNvCxnSpPr>
            <a:stCxn id="31" idx="2"/>
            <a:endCxn id="17" idx="6"/>
          </p:cNvCxnSpPr>
          <p:nvPr/>
        </p:nvCxnSpPr>
        <p:spPr>
          <a:xfrm flipV="1">
            <a:off x="5211846" y="2656892"/>
            <a:ext cx="1971509" cy="4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2FB1C3EB-6B3B-D4E7-6728-694B2720C495}"/>
              </a:ext>
            </a:extLst>
          </p:cNvPr>
          <p:cNvCxnSpPr>
            <a:cxnSpLocks/>
            <a:stCxn id="18" idx="2"/>
            <a:endCxn id="8" idx="6"/>
          </p:cNvCxnSpPr>
          <p:nvPr/>
        </p:nvCxnSpPr>
        <p:spPr>
          <a:xfrm flipV="1">
            <a:off x="5211846" y="2940790"/>
            <a:ext cx="1971509" cy="5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46EE7331-4499-480E-8D36-CBF3FBA2DB71}"/>
              </a:ext>
            </a:extLst>
          </p:cNvPr>
          <p:cNvCxnSpPr>
            <a:cxnSpLocks/>
            <a:stCxn id="10" idx="2"/>
            <a:endCxn id="30" idx="6"/>
          </p:cNvCxnSpPr>
          <p:nvPr/>
        </p:nvCxnSpPr>
        <p:spPr>
          <a:xfrm>
            <a:off x="5211846" y="3230399"/>
            <a:ext cx="197150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0703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26500-E29C-AB1C-4D87-8D71A257F4E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C860625A-45BE-3CED-1E02-DDD7E07F4BB7}"/>
              </a:ext>
            </a:extLst>
          </p:cNvPr>
          <p:cNvSpPr/>
          <p:nvPr/>
        </p:nvSpPr>
        <p:spPr>
          <a:xfrm>
            <a:off x="5828299" y="1305237"/>
            <a:ext cx="1819932" cy="1559825"/>
          </a:xfrm>
          <a:prstGeom prst="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Structure Inference Layer</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(GPT-2 / GPT-J + </a:t>
            </a:r>
            <a:r>
              <a:rPr kumimoji="1" lang="en-US" altLang="zh-TW" sz="1050" dirty="0" err="1">
                <a:solidFill>
                  <a:schemeClr val="tx2"/>
                </a:solidFill>
                <a:latin typeface="BiauKaiTC Regular" panose="03000500000000000000" pitchFamily="66" charset="-120"/>
                <a:ea typeface="BiauKaiTC Regular" panose="03000500000000000000" pitchFamily="66" charset="-120"/>
              </a:rPr>
              <a:t>LoRA</a:t>
            </a:r>
            <a:r>
              <a:rPr kumimoji="1" lang="en-US" altLang="zh-TW" sz="1050" dirty="0">
                <a:solidFill>
                  <a:schemeClr val="tx2"/>
                </a:solidFill>
                <a:latin typeface="BiauKaiTC Regular" panose="03000500000000000000" pitchFamily="66" charset="-120"/>
                <a:ea typeface="BiauKaiTC Regular" panose="03000500000000000000" pitchFamily="66" charset="-120"/>
              </a:rPr>
              <a:t>)</a:t>
            </a:r>
          </a:p>
        </p:txBody>
      </p:sp>
      <p:sp>
        <p:nvSpPr>
          <p:cNvPr id="5" name="矩形 4">
            <a:extLst>
              <a:ext uri="{FF2B5EF4-FFF2-40B4-BE49-F238E27FC236}">
                <a16:creationId xmlns:a16="http://schemas.microsoft.com/office/drawing/2014/main" id="{C71BAF8F-4F42-048C-BE9D-842D34FE33D7}"/>
              </a:ext>
            </a:extLst>
          </p:cNvPr>
          <p:cNvSpPr/>
          <p:nvPr/>
        </p:nvSpPr>
        <p:spPr>
          <a:xfrm>
            <a:off x="1982315" y="1632263"/>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User input</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(Markdown to S1000D modules, e.g., descriptive, procedural)</a:t>
            </a:r>
          </a:p>
        </p:txBody>
      </p:sp>
      <p:sp>
        <p:nvSpPr>
          <p:cNvPr id="8" name="橢圓 7">
            <a:extLst>
              <a:ext uri="{FF2B5EF4-FFF2-40B4-BE49-F238E27FC236}">
                <a16:creationId xmlns:a16="http://schemas.microsoft.com/office/drawing/2014/main" id="{842FA35E-278C-2206-2527-363420D5EA2E}"/>
              </a:ext>
            </a:extLst>
          </p:cNvPr>
          <p:cNvSpPr/>
          <p:nvPr/>
        </p:nvSpPr>
        <p:spPr>
          <a:xfrm>
            <a:off x="7572441" y="2303691"/>
            <a:ext cx="151579" cy="15157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橢圓 9">
            <a:extLst>
              <a:ext uri="{FF2B5EF4-FFF2-40B4-BE49-F238E27FC236}">
                <a16:creationId xmlns:a16="http://schemas.microsoft.com/office/drawing/2014/main" id="{884421C7-3E5C-B123-50D7-273AA7EF53E7}"/>
              </a:ext>
            </a:extLst>
          </p:cNvPr>
          <p:cNvSpPr/>
          <p:nvPr/>
        </p:nvSpPr>
        <p:spPr>
          <a:xfrm>
            <a:off x="5752511" y="2593300"/>
            <a:ext cx="151579" cy="15157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矩形 5">
            <a:extLst>
              <a:ext uri="{FF2B5EF4-FFF2-40B4-BE49-F238E27FC236}">
                <a16:creationId xmlns:a16="http://schemas.microsoft.com/office/drawing/2014/main" id="{E8D34C31-81E6-8EA3-6E3B-6D650569107B}"/>
              </a:ext>
            </a:extLst>
          </p:cNvPr>
          <p:cNvSpPr/>
          <p:nvPr/>
        </p:nvSpPr>
        <p:spPr>
          <a:xfrm>
            <a:off x="5828299" y="3471388"/>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Full Document Validator</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(s1kd-validate)</a:t>
            </a:r>
          </a:p>
        </p:txBody>
      </p:sp>
      <p:cxnSp>
        <p:nvCxnSpPr>
          <p:cNvPr id="12" name="肘形接點 11">
            <a:extLst>
              <a:ext uri="{FF2B5EF4-FFF2-40B4-BE49-F238E27FC236}">
                <a16:creationId xmlns:a16="http://schemas.microsoft.com/office/drawing/2014/main" id="{BDCF2BAB-7C6B-3123-F3F2-2791A5BFD098}"/>
              </a:ext>
            </a:extLst>
          </p:cNvPr>
          <p:cNvCxnSpPr>
            <a:cxnSpLocks/>
            <a:stCxn id="8" idx="6"/>
            <a:endCxn id="6" idx="3"/>
          </p:cNvCxnSpPr>
          <p:nvPr/>
        </p:nvCxnSpPr>
        <p:spPr>
          <a:xfrm flipH="1">
            <a:off x="7648231" y="2379481"/>
            <a:ext cx="75789" cy="1559826"/>
          </a:xfrm>
          <a:prstGeom prst="bentConnector3">
            <a:avLst>
              <a:gd name="adj1" fmla="val -301627"/>
            </a:avLst>
          </a:prstGeom>
          <a:ln w="28575">
            <a:solidFill>
              <a:schemeClr val="accent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肘形接點 12">
            <a:extLst>
              <a:ext uri="{FF2B5EF4-FFF2-40B4-BE49-F238E27FC236}">
                <a16:creationId xmlns:a16="http://schemas.microsoft.com/office/drawing/2014/main" id="{6E01F062-41CA-4F44-BD62-FD31B239313B}"/>
              </a:ext>
            </a:extLst>
          </p:cNvPr>
          <p:cNvCxnSpPr>
            <a:cxnSpLocks/>
            <a:stCxn id="6" idx="1"/>
            <a:endCxn id="29" idx="2"/>
          </p:cNvCxnSpPr>
          <p:nvPr/>
        </p:nvCxnSpPr>
        <p:spPr>
          <a:xfrm rot="10800000">
            <a:off x="5030203" y="3439319"/>
            <a:ext cx="798097" cy="499989"/>
          </a:xfrm>
          <a:prstGeom prst="bentConnector2">
            <a:avLst/>
          </a:prstGeom>
          <a:ln w="28575">
            <a:solidFill>
              <a:schemeClr val="accent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D6555299-EB0E-03AF-FB5A-01EA074C67C3}"/>
              </a:ext>
            </a:extLst>
          </p:cNvPr>
          <p:cNvSpPr/>
          <p:nvPr/>
        </p:nvSpPr>
        <p:spPr>
          <a:xfrm>
            <a:off x="5828298" y="5013550"/>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Local Syntax Check</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(XML-aware CSG parser)</a:t>
            </a:r>
          </a:p>
        </p:txBody>
      </p:sp>
      <p:sp>
        <p:nvSpPr>
          <p:cNvPr id="17" name="橢圓 16">
            <a:extLst>
              <a:ext uri="{FF2B5EF4-FFF2-40B4-BE49-F238E27FC236}">
                <a16:creationId xmlns:a16="http://schemas.microsoft.com/office/drawing/2014/main" id="{C9279DD0-8E46-1EBC-8CDD-98A8A2CECDC4}"/>
              </a:ext>
            </a:extLst>
          </p:cNvPr>
          <p:cNvSpPr/>
          <p:nvPr/>
        </p:nvSpPr>
        <p:spPr>
          <a:xfrm>
            <a:off x="7572441" y="2019793"/>
            <a:ext cx="151579" cy="15157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橢圓 17">
            <a:extLst>
              <a:ext uri="{FF2B5EF4-FFF2-40B4-BE49-F238E27FC236}">
                <a16:creationId xmlns:a16="http://schemas.microsoft.com/office/drawing/2014/main" id="{6DF5A08E-552B-7BC6-0216-281BB3536B67}"/>
              </a:ext>
            </a:extLst>
          </p:cNvPr>
          <p:cNvSpPr/>
          <p:nvPr/>
        </p:nvSpPr>
        <p:spPr>
          <a:xfrm>
            <a:off x="5752511" y="2308846"/>
            <a:ext cx="151579" cy="15157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9" name="肘形接點 18">
            <a:extLst>
              <a:ext uri="{FF2B5EF4-FFF2-40B4-BE49-F238E27FC236}">
                <a16:creationId xmlns:a16="http://schemas.microsoft.com/office/drawing/2014/main" id="{7B96F568-D5D9-8053-84E4-9117DF0412F8}"/>
              </a:ext>
            </a:extLst>
          </p:cNvPr>
          <p:cNvCxnSpPr>
            <a:cxnSpLocks/>
            <a:stCxn id="17" idx="6"/>
            <a:endCxn id="16" idx="3"/>
          </p:cNvCxnSpPr>
          <p:nvPr/>
        </p:nvCxnSpPr>
        <p:spPr>
          <a:xfrm flipH="1">
            <a:off x="7648230" y="2095583"/>
            <a:ext cx="75790" cy="3385886"/>
          </a:xfrm>
          <a:prstGeom prst="bentConnector3">
            <a:avLst>
              <a:gd name="adj1" fmla="val -605869"/>
            </a:avLst>
          </a:prstGeom>
          <a:ln w="28575">
            <a:solidFill>
              <a:schemeClr val="accent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肘形接點 22">
            <a:extLst>
              <a:ext uri="{FF2B5EF4-FFF2-40B4-BE49-F238E27FC236}">
                <a16:creationId xmlns:a16="http://schemas.microsoft.com/office/drawing/2014/main" id="{22303BB3-9D88-2C48-F088-4AA4DB076610}"/>
              </a:ext>
            </a:extLst>
          </p:cNvPr>
          <p:cNvCxnSpPr>
            <a:cxnSpLocks/>
            <a:stCxn id="16" idx="1"/>
            <a:endCxn id="14" idx="2"/>
          </p:cNvCxnSpPr>
          <p:nvPr/>
        </p:nvCxnSpPr>
        <p:spPr>
          <a:xfrm rot="10800000">
            <a:off x="4120238" y="3439319"/>
            <a:ext cx="1708060" cy="2042151"/>
          </a:xfrm>
          <a:prstGeom prst="bentConnector2">
            <a:avLst/>
          </a:prstGeom>
          <a:ln w="28575">
            <a:solidFill>
              <a:schemeClr val="accent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橢圓 29">
            <a:extLst>
              <a:ext uri="{FF2B5EF4-FFF2-40B4-BE49-F238E27FC236}">
                <a16:creationId xmlns:a16="http://schemas.microsoft.com/office/drawing/2014/main" id="{F2ACF2E3-D5E3-FE70-5E58-F45AC2B7020A}"/>
              </a:ext>
            </a:extLst>
          </p:cNvPr>
          <p:cNvSpPr/>
          <p:nvPr/>
        </p:nvSpPr>
        <p:spPr>
          <a:xfrm>
            <a:off x="7572440" y="2593300"/>
            <a:ext cx="151579" cy="15157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 name="橢圓 30">
            <a:extLst>
              <a:ext uri="{FF2B5EF4-FFF2-40B4-BE49-F238E27FC236}">
                <a16:creationId xmlns:a16="http://schemas.microsoft.com/office/drawing/2014/main" id="{13792C76-0EC7-0CFF-0B8F-CD851CECD9C0}"/>
              </a:ext>
            </a:extLst>
          </p:cNvPr>
          <p:cNvSpPr/>
          <p:nvPr/>
        </p:nvSpPr>
        <p:spPr>
          <a:xfrm>
            <a:off x="5752511" y="2024392"/>
            <a:ext cx="151579" cy="15157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58" name="直線箭頭接點 57">
            <a:extLst>
              <a:ext uri="{FF2B5EF4-FFF2-40B4-BE49-F238E27FC236}">
                <a16:creationId xmlns:a16="http://schemas.microsoft.com/office/drawing/2014/main" id="{D52623F2-DA0A-5396-D454-CC9F18DC9661}"/>
              </a:ext>
            </a:extLst>
          </p:cNvPr>
          <p:cNvCxnSpPr>
            <a:cxnSpLocks/>
            <a:stCxn id="5" idx="3"/>
            <a:endCxn id="31" idx="2"/>
          </p:cNvCxnSpPr>
          <p:nvPr/>
        </p:nvCxnSpPr>
        <p:spPr>
          <a:xfrm>
            <a:off x="3802247" y="2100182"/>
            <a:ext cx="1950264" cy="0"/>
          </a:xfrm>
          <a:prstGeom prst="straightConnector1">
            <a:avLst/>
          </a:prstGeom>
          <a:ln w="28575">
            <a:solidFill>
              <a:schemeClr val="accent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43C94668-DDB6-EFEE-1497-B2709DB40EB4}"/>
              </a:ext>
            </a:extLst>
          </p:cNvPr>
          <p:cNvSpPr txBox="1"/>
          <p:nvPr/>
        </p:nvSpPr>
        <p:spPr>
          <a:xfrm>
            <a:off x="5828296" y="3236773"/>
            <a:ext cx="1819933" cy="279307"/>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sz="1400" b="1" dirty="0"/>
              <a:t>Inner Repair Loop</a:t>
            </a:r>
          </a:p>
        </p:txBody>
      </p:sp>
      <p:sp>
        <p:nvSpPr>
          <p:cNvPr id="63" name="文字方塊 62">
            <a:extLst>
              <a:ext uri="{FF2B5EF4-FFF2-40B4-BE49-F238E27FC236}">
                <a16:creationId xmlns:a16="http://schemas.microsoft.com/office/drawing/2014/main" id="{83C0F7FB-A348-7BCE-B64F-1B5A32129028}"/>
              </a:ext>
            </a:extLst>
          </p:cNvPr>
          <p:cNvSpPr txBox="1"/>
          <p:nvPr/>
        </p:nvSpPr>
        <p:spPr>
          <a:xfrm>
            <a:off x="5828296" y="4788293"/>
            <a:ext cx="1819933" cy="279307"/>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sz="1400" b="1" dirty="0"/>
              <a:t>Outer Repair Loop</a:t>
            </a:r>
          </a:p>
        </p:txBody>
      </p:sp>
      <p:cxnSp>
        <p:nvCxnSpPr>
          <p:cNvPr id="66" name="直線箭頭接點 65">
            <a:extLst>
              <a:ext uri="{FF2B5EF4-FFF2-40B4-BE49-F238E27FC236}">
                <a16:creationId xmlns:a16="http://schemas.microsoft.com/office/drawing/2014/main" id="{B2CEC9F1-78E4-C092-C05E-2FABA384624E}"/>
              </a:ext>
            </a:extLst>
          </p:cNvPr>
          <p:cNvCxnSpPr>
            <a:cxnSpLocks/>
            <a:stCxn id="67" idx="3"/>
            <a:endCxn id="5" idx="1"/>
          </p:cNvCxnSpPr>
          <p:nvPr/>
        </p:nvCxnSpPr>
        <p:spPr>
          <a:xfrm>
            <a:off x="1776195" y="2100182"/>
            <a:ext cx="2061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文字方塊 66">
            <a:extLst>
              <a:ext uri="{FF2B5EF4-FFF2-40B4-BE49-F238E27FC236}">
                <a16:creationId xmlns:a16="http://schemas.microsoft.com/office/drawing/2014/main" id="{3CD11C04-B089-FF0F-4110-296222493B57}"/>
              </a:ext>
            </a:extLst>
          </p:cNvPr>
          <p:cNvSpPr txBox="1"/>
          <p:nvPr/>
        </p:nvSpPr>
        <p:spPr>
          <a:xfrm>
            <a:off x="629169" y="1964247"/>
            <a:ext cx="1147026"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Markdown</a:t>
            </a:r>
            <a:endParaRPr lang="en" altLang="zh-TW" sz="1050" dirty="0"/>
          </a:p>
        </p:txBody>
      </p:sp>
      <p:sp>
        <p:nvSpPr>
          <p:cNvPr id="71" name="文字方塊 70">
            <a:extLst>
              <a:ext uri="{FF2B5EF4-FFF2-40B4-BE49-F238E27FC236}">
                <a16:creationId xmlns:a16="http://schemas.microsoft.com/office/drawing/2014/main" id="{6766E5C6-04BB-4A4A-D408-AE887C2898F9}"/>
              </a:ext>
            </a:extLst>
          </p:cNvPr>
          <p:cNvSpPr txBox="1"/>
          <p:nvPr/>
        </p:nvSpPr>
        <p:spPr>
          <a:xfrm>
            <a:off x="9674283" y="2533289"/>
            <a:ext cx="1158551"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S1000D XML</a:t>
            </a:r>
            <a:endParaRPr lang="en" altLang="zh-TW" sz="1050" dirty="0"/>
          </a:p>
        </p:txBody>
      </p:sp>
      <p:cxnSp>
        <p:nvCxnSpPr>
          <p:cNvPr id="72" name="直線箭頭接點 71">
            <a:extLst>
              <a:ext uri="{FF2B5EF4-FFF2-40B4-BE49-F238E27FC236}">
                <a16:creationId xmlns:a16="http://schemas.microsoft.com/office/drawing/2014/main" id="{28FCDF8B-986A-F1A0-9184-18D60898AF79}"/>
              </a:ext>
            </a:extLst>
          </p:cNvPr>
          <p:cNvCxnSpPr>
            <a:cxnSpLocks/>
            <a:stCxn id="30" idx="6"/>
            <a:endCxn id="71" idx="1"/>
          </p:cNvCxnSpPr>
          <p:nvPr/>
        </p:nvCxnSpPr>
        <p:spPr>
          <a:xfrm>
            <a:off x="7724019" y="2669090"/>
            <a:ext cx="1950264" cy="134"/>
          </a:xfrm>
          <a:prstGeom prst="straightConnector1">
            <a:avLst/>
          </a:prstGeom>
          <a:ln w="28575">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7" name="橢圓 76">
            <a:extLst>
              <a:ext uri="{FF2B5EF4-FFF2-40B4-BE49-F238E27FC236}">
                <a16:creationId xmlns:a16="http://schemas.microsoft.com/office/drawing/2014/main" id="{813A1FF2-3A1A-BC59-624A-B6716E34BDF9}"/>
              </a:ext>
            </a:extLst>
          </p:cNvPr>
          <p:cNvSpPr/>
          <p:nvPr/>
        </p:nvSpPr>
        <p:spPr>
          <a:xfrm>
            <a:off x="7909119" y="3128117"/>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8" name="文字方塊 77">
            <a:extLst>
              <a:ext uri="{FF2B5EF4-FFF2-40B4-BE49-F238E27FC236}">
                <a16:creationId xmlns:a16="http://schemas.microsoft.com/office/drawing/2014/main" id="{AC1675C5-DE7B-55BA-E29C-FE943FC16F57}"/>
              </a:ext>
            </a:extLst>
          </p:cNvPr>
          <p:cNvSpPr txBox="1"/>
          <p:nvPr/>
        </p:nvSpPr>
        <p:spPr>
          <a:xfrm>
            <a:off x="8900333" y="2789347"/>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Local accuracy (by modules)</a:t>
            </a:r>
            <a:endParaRPr lang="en" altLang="zh-TW" sz="1000" dirty="0">
              <a:solidFill>
                <a:schemeClr val="accent6">
                  <a:lumMod val="75000"/>
                </a:schemeClr>
              </a:solidFill>
            </a:endParaRPr>
          </a:p>
        </p:txBody>
      </p:sp>
      <p:cxnSp>
        <p:nvCxnSpPr>
          <p:cNvPr id="80" name="曲線接點 79">
            <a:extLst>
              <a:ext uri="{FF2B5EF4-FFF2-40B4-BE49-F238E27FC236}">
                <a16:creationId xmlns:a16="http://schemas.microsoft.com/office/drawing/2014/main" id="{46DFC13E-C38C-22FE-DAE9-323FFDF08B85}"/>
              </a:ext>
            </a:extLst>
          </p:cNvPr>
          <p:cNvCxnSpPr>
            <a:cxnSpLocks/>
            <a:stCxn id="77" idx="6"/>
            <a:endCxn id="78" idx="1"/>
          </p:cNvCxnSpPr>
          <p:nvPr/>
        </p:nvCxnSpPr>
        <p:spPr>
          <a:xfrm flipV="1">
            <a:off x="8008461" y="2921531"/>
            <a:ext cx="891872" cy="256257"/>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2" name="橢圓 81">
            <a:extLst>
              <a:ext uri="{FF2B5EF4-FFF2-40B4-BE49-F238E27FC236}">
                <a16:creationId xmlns:a16="http://schemas.microsoft.com/office/drawing/2014/main" id="{3F4E64BF-0C16-DCF2-8F53-08FAA58FFBB6}"/>
              </a:ext>
            </a:extLst>
          </p:cNvPr>
          <p:cNvSpPr/>
          <p:nvPr/>
        </p:nvSpPr>
        <p:spPr>
          <a:xfrm>
            <a:off x="8139533" y="3372983"/>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3" name="文字方塊 82">
            <a:extLst>
              <a:ext uri="{FF2B5EF4-FFF2-40B4-BE49-F238E27FC236}">
                <a16:creationId xmlns:a16="http://schemas.microsoft.com/office/drawing/2014/main" id="{36EF6ADD-9705-648A-E5A5-712D76C43E1C}"/>
              </a:ext>
            </a:extLst>
          </p:cNvPr>
          <p:cNvSpPr txBox="1"/>
          <p:nvPr/>
        </p:nvSpPr>
        <p:spPr>
          <a:xfrm>
            <a:off x="8916235" y="3038508"/>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Global accuracy (by document)</a:t>
            </a:r>
            <a:endParaRPr lang="en" altLang="zh-TW" sz="1000" dirty="0">
              <a:solidFill>
                <a:schemeClr val="accent6">
                  <a:lumMod val="75000"/>
                </a:schemeClr>
              </a:solidFill>
            </a:endParaRPr>
          </a:p>
        </p:txBody>
      </p:sp>
      <p:cxnSp>
        <p:nvCxnSpPr>
          <p:cNvPr id="84" name="曲線接點 83">
            <a:extLst>
              <a:ext uri="{FF2B5EF4-FFF2-40B4-BE49-F238E27FC236}">
                <a16:creationId xmlns:a16="http://schemas.microsoft.com/office/drawing/2014/main" id="{449ADA6E-7275-B57C-DDD6-42F1EF916F40}"/>
              </a:ext>
            </a:extLst>
          </p:cNvPr>
          <p:cNvCxnSpPr>
            <a:cxnSpLocks/>
            <a:stCxn id="82" idx="6"/>
            <a:endCxn id="83" idx="1"/>
          </p:cNvCxnSpPr>
          <p:nvPr/>
        </p:nvCxnSpPr>
        <p:spPr>
          <a:xfrm flipV="1">
            <a:off x="8238875" y="3170692"/>
            <a:ext cx="677360" cy="251962"/>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8" name="文字方塊 97">
            <a:extLst>
              <a:ext uri="{FF2B5EF4-FFF2-40B4-BE49-F238E27FC236}">
                <a16:creationId xmlns:a16="http://schemas.microsoft.com/office/drawing/2014/main" id="{AD849E2A-8D6D-A1CE-CB3D-0F6BA85496B4}"/>
              </a:ext>
            </a:extLst>
          </p:cNvPr>
          <p:cNvSpPr txBox="1"/>
          <p:nvPr/>
        </p:nvSpPr>
        <p:spPr>
          <a:xfrm>
            <a:off x="134706" y="137067"/>
            <a:ext cx="11257194" cy="954107"/>
          </a:xfrm>
          <a:prstGeom prst="rect">
            <a:avLst/>
          </a:prstGeom>
          <a:noFill/>
        </p:spPr>
        <p:txBody>
          <a:bodyPr wrap="square">
            <a:spAutoFit/>
          </a:bodyPr>
          <a:lstStyle/>
          <a:p>
            <a:r>
              <a:rPr lang="en" altLang="zh-TW" sz="2800" b="1" dirty="0">
                <a:solidFill>
                  <a:srgbClr val="0070C0"/>
                </a:solidFill>
                <a:latin typeface="BiauKaiTC Regular" panose="03000500000000000000" pitchFamily="66" charset="-120"/>
                <a:ea typeface="BiauKaiTC Regular" panose="03000500000000000000" pitchFamily="66" charset="-120"/>
              </a:rPr>
              <a:t>S1000DForge-Repair: An LLM-Guided Auto-Repair Framework for Validating and Fixing Structured XML Documentation</a:t>
            </a:r>
            <a:endParaRPr lang="zh-TW" altLang="en-US" sz="2800" b="1" dirty="0">
              <a:solidFill>
                <a:srgbClr val="0070C0"/>
              </a:solidFill>
              <a:latin typeface="BiauKaiTC Regular" panose="03000500000000000000" pitchFamily="66" charset="-120"/>
              <a:ea typeface="BiauKaiTC Regular" panose="03000500000000000000" pitchFamily="66" charset="-120"/>
            </a:endParaRPr>
          </a:p>
        </p:txBody>
      </p:sp>
      <p:sp>
        <p:nvSpPr>
          <p:cNvPr id="100" name="文字方塊 99">
            <a:extLst>
              <a:ext uri="{FF2B5EF4-FFF2-40B4-BE49-F238E27FC236}">
                <a16:creationId xmlns:a16="http://schemas.microsoft.com/office/drawing/2014/main" id="{362E81DB-78FA-48F0-2998-99813E268311}"/>
              </a:ext>
            </a:extLst>
          </p:cNvPr>
          <p:cNvSpPr txBox="1"/>
          <p:nvPr/>
        </p:nvSpPr>
        <p:spPr>
          <a:xfrm>
            <a:off x="8238875" y="4079363"/>
            <a:ext cx="3929496" cy="2697213"/>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just">
              <a:spcBef>
                <a:spcPts val="1200"/>
              </a:spcBef>
              <a:buNone/>
            </a:pPr>
            <a:r>
              <a:rPr lang="en" altLang="zh-TW" b="1" dirty="0"/>
              <a:t>Major Contributions:</a:t>
            </a:r>
          </a:p>
          <a:p>
            <a:pPr algn="just">
              <a:spcBef>
                <a:spcPts val="1200"/>
              </a:spcBef>
            </a:pPr>
            <a:r>
              <a:rPr kumimoji="1" lang="en" altLang="zh-TW" sz="900" dirty="0">
                <a:solidFill>
                  <a:schemeClr val="tx2"/>
                </a:solidFill>
                <a:latin typeface="BiauKaiTC Regular" panose="03000500000000000000" pitchFamily="66" charset="-120"/>
                <a:ea typeface="BiauKaiTC Regular" panose="03000500000000000000" pitchFamily="66" charset="-120"/>
              </a:rPr>
              <a:t>We propose S1000DForge-Repair, the first auto-repair framework that integrates LLM-based XML generation with grammar-aware validation and self-correction loops for complex standards such as S1000D.</a:t>
            </a:r>
          </a:p>
          <a:p>
            <a:pPr algn="just">
              <a:spcBef>
                <a:spcPts val="1200"/>
              </a:spcBef>
            </a:pPr>
            <a:r>
              <a:rPr kumimoji="1" lang="en" altLang="zh-TW" sz="900" dirty="0">
                <a:solidFill>
                  <a:schemeClr val="tx2"/>
                </a:solidFill>
                <a:latin typeface="BiauKaiTC Regular" panose="03000500000000000000" pitchFamily="66" charset="-120"/>
                <a:ea typeface="BiauKaiTC Regular" panose="03000500000000000000" pitchFamily="66" charset="-120"/>
              </a:rPr>
              <a:t>We introduce a taxonomy of XML error types (structural, syntactic, and semantic), and map each category to targeted repair strategies using prompt injection, Markov-based structure prediction, and rule-based heuristics.</a:t>
            </a:r>
          </a:p>
          <a:p>
            <a:pPr algn="just">
              <a:spcBef>
                <a:spcPts val="1200"/>
              </a:spcBef>
            </a:pPr>
            <a:r>
              <a:rPr kumimoji="1" lang="en" altLang="zh-TW" sz="900" dirty="0">
                <a:solidFill>
                  <a:schemeClr val="tx2"/>
                </a:solidFill>
                <a:latin typeface="BiauKaiTC Regular" panose="03000500000000000000" pitchFamily="66" charset="-120"/>
                <a:ea typeface="BiauKaiTC Regular" panose="03000500000000000000" pitchFamily="66" charset="-120"/>
              </a:rPr>
              <a:t>We conduct a comprehensive evaluation including automated metrics (e.g., validity rate, repair efficiency) and human-centered studies (e.g., expert interviews, perceived trust, usability), demonstrating the effectiveness and practical value of the proposed repair loop.</a:t>
            </a:r>
          </a:p>
        </p:txBody>
      </p:sp>
      <p:sp>
        <p:nvSpPr>
          <p:cNvPr id="101" name="文字方塊 100">
            <a:extLst>
              <a:ext uri="{FF2B5EF4-FFF2-40B4-BE49-F238E27FC236}">
                <a16:creationId xmlns:a16="http://schemas.microsoft.com/office/drawing/2014/main" id="{31B840BB-7ACC-6EF2-E67A-EED5EAA93B0E}"/>
              </a:ext>
            </a:extLst>
          </p:cNvPr>
          <p:cNvSpPr txBox="1"/>
          <p:nvPr/>
        </p:nvSpPr>
        <p:spPr>
          <a:xfrm>
            <a:off x="8482605" y="1869807"/>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User acceptance test (UAT)</a:t>
            </a:r>
            <a:endParaRPr lang="en" altLang="zh-TW" sz="1000" dirty="0">
              <a:solidFill>
                <a:schemeClr val="accent6">
                  <a:lumMod val="75000"/>
                </a:schemeClr>
              </a:solidFill>
            </a:endParaRPr>
          </a:p>
        </p:txBody>
      </p:sp>
      <p:sp>
        <p:nvSpPr>
          <p:cNvPr id="102" name="橢圓 101">
            <a:extLst>
              <a:ext uri="{FF2B5EF4-FFF2-40B4-BE49-F238E27FC236}">
                <a16:creationId xmlns:a16="http://schemas.microsoft.com/office/drawing/2014/main" id="{A4AA7D81-1F38-6B12-8A5C-4F2BA3C1070B}"/>
              </a:ext>
            </a:extLst>
          </p:cNvPr>
          <p:cNvSpPr/>
          <p:nvPr/>
        </p:nvSpPr>
        <p:spPr>
          <a:xfrm>
            <a:off x="8296013" y="2622699"/>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03" name="曲線接點 102">
            <a:extLst>
              <a:ext uri="{FF2B5EF4-FFF2-40B4-BE49-F238E27FC236}">
                <a16:creationId xmlns:a16="http://schemas.microsoft.com/office/drawing/2014/main" id="{F774D401-449B-F00F-45EF-4E7F229EE40A}"/>
              </a:ext>
            </a:extLst>
          </p:cNvPr>
          <p:cNvCxnSpPr>
            <a:cxnSpLocks/>
            <a:stCxn id="102" idx="7"/>
            <a:endCxn id="101" idx="2"/>
          </p:cNvCxnSpPr>
          <p:nvPr/>
        </p:nvCxnSpPr>
        <p:spPr>
          <a:xfrm rot="5400000" flipH="1" flipV="1">
            <a:off x="8668973" y="1846009"/>
            <a:ext cx="503072" cy="1079405"/>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467EB559-D378-D5F7-301A-7C1377C89EA5}"/>
              </a:ext>
            </a:extLst>
          </p:cNvPr>
          <p:cNvSpPr/>
          <p:nvPr/>
        </p:nvSpPr>
        <p:spPr>
          <a:xfrm>
            <a:off x="3696087" y="2951520"/>
            <a:ext cx="848301" cy="48779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000" b="1" dirty="0">
                <a:solidFill>
                  <a:schemeClr val="bg2"/>
                </a:solidFill>
                <a:latin typeface="BiauKaiTC Regular" panose="03000500000000000000" pitchFamily="66" charset="-120"/>
                <a:ea typeface="BiauKaiTC Regular" panose="03000500000000000000" pitchFamily="66" charset="-120"/>
              </a:rPr>
              <a:t>Syntax Fix Prompt</a:t>
            </a:r>
            <a:endParaRPr kumimoji="1" lang="en-US" altLang="zh-TW" sz="1000" dirty="0">
              <a:solidFill>
                <a:schemeClr val="bg2"/>
              </a:solidFill>
              <a:latin typeface="BiauKaiTC Regular" panose="03000500000000000000" pitchFamily="66" charset="-120"/>
              <a:ea typeface="BiauKaiTC Regular" panose="03000500000000000000" pitchFamily="66" charset="-120"/>
            </a:endParaRPr>
          </a:p>
        </p:txBody>
      </p:sp>
      <p:cxnSp>
        <p:nvCxnSpPr>
          <p:cNvPr id="24" name="肘形接點 23">
            <a:extLst>
              <a:ext uri="{FF2B5EF4-FFF2-40B4-BE49-F238E27FC236}">
                <a16:creationId xmlns:a16="http://schemas.microsoft.com/office/drawing/2014/main" id="{479110E7-A621-5DBB-FA57-C4BEC53CEA19}"/>
              </a:ext>
            </a:extLst>
          </p:cNvPr>
          <p:cNvCxnSpPr>
            <a:cxnSpLocks/>
            <a:stCxn id="14" idx="0"/>
            <a:endCxn id="18" idx="2"/>
          </p:cNvCxnSpPr>
          <p:nvPr/>
        </p:nvCxnSpPr>
        <p:spPr>
          <a:xfrm rot="5400000" flipH="1" flipV="1">
            <a:off x="4652932" y="1851942"/>
            <a:ext cx="566884" cy="1632273"/>
          </a:xfrm>
          <a:prstGeom prst="bentConnector2">
            <a:avLst/>
          </a:prstGeom>
          <a:ln w="28575">
            <a:solidFill>
              <a:schemeClr val="accent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9287B1CC-AB77-D1CF-392E-59B7AED71371}"/>
              </a:ext>
            </a:extLst>
          </p:cNvPr>
          <p:cNvSpPr/>
          <p:nvPr/>
        </p:nvSpPr>
        <p:spPr>
          <a:xfrm>
            <a:off x="4606051" y="2951520"/>
            <a:ext cx="848301" cy="48779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000" b="1" dirty="0">
                <a:solidFill>
                  <a:schemeClr val="bg2"/>
                </a:solidFill>
                <a:latin typeface="BiauKaiTC Regular" panose="03000500000000000000" pitchFamily="66" charset="-120"/>
                <a:ea typeface="BiauKaiTC Regular" panose="03000500000000000000" pitchFamily="66" charset="-120"/>
              </a:rPr>
              <a:t>Document Fix Prompt</a:t>
            </a:r>
            <a:endParaRPr kumimoji="1" lang="en-US" altLang="zh-TW" sz="1000" dirty="0">
              <a:solidFill>
                <a:schemeClr val="bg2"/>
              </a:solidFill>
              <a:latin typeface="BiauKaiTC Regular" panose="03000500000000000000" pitchFamily="66" charset="-120"/>
              <a:ea typeface="BiauKaiTC Regular" panose="03000500000000000000" pitchFamily="66" charset="-120"/>
            </a:endParaRPr>
          </a:p>
        </p:txBody>
      </p:sp>
      <p:cxnSp>
        <p:nvCxnSpPr>
          <p:cNvPr id="35" name="肘形接點 34">
            <a:extLst>
              <a:ext uri="{FF2B5EF4-FFF2-40B4-BE49-F238E27FC236}">
                <a16:creationId xmlns:a16="http://schemas.microsoft.com/office/drawing/2014/main" id="{86ACD855-7C60-152F-074F-78D12FA515C9}"/>
              </a:ext>
            </a:extLst>
          </p:cNvPr>
          <p:cNvCxnSpPr>
            <a:cxnSpLocks/>
            <a:stCxn id="29" idx="0"/>
            <a:endCxn id="10" idx="2"/>
          </p:cNvCxnSpPr>
          <p:nvPr/>
        </p:nvCxnSpPr>
        <p:spPr>
          <a:xfrm rot="5400000" flipH="1" flipV="1">
            <a:off x="5250141" y="2449151"/>
            <a:ext cx="282430" cy="722309"/>
          </a:xfrm>
          <a:prstGeom prst="bentConnector2">
            <a:avLst/>
          </a:prstGeom>
          <a:ln w="28575">
            <a:solidFill>
              <a:schemeClr val="accent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3F9DCBCD-1A02-7598-1456-4389A5DFFA6A}"/>
              </a:ext>
            </a:extLst>
          </p:cNvPr>
          <p:cNvCxnSpPr>
            <a:stCxn id="31" idx="2"/>
            <a:endCxn id="17" idx="6"/>
          </p:cNvCxnSpPr>
          <p:nvPr/>
        </p:nvCxnSpPr>
        <p:spPr>
          <a:xfrm flipV="1">
            <a:off x="5752511" y="2095583"/>
            <a:ext cx="1971509" cy="4599"/>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F8412967-9A44-9CD3-EDB2-EC9E7B0F2BA2}"/>
              </a:ext>
            </a:extLst>
          </p:cNvPr>
          <p:cNvCxnSpPr>
            <a:cxnSpLocks/>
            <a:stCxn id="18" idx="2"/>
            <a:endCxn id="8" idx="6"/>
          </p:cNvCxnSpPr>
          <p:nvPr/>
        </p:nvCxnSpPr>
        <p:spPr>
          <a:xfrm flipV="1">
            <a:off x="5752511" y="2379481"/>
            <a:ext cx="1971509" cy="5155"/>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9C81BE89-D91C-558E-43AF-609607EA20E9}"/>
              </a:ext>
            </a:extLst>
          </p:cNvPr>
          <p:cNvCxnSpPr>
            <a:cxnSpLocks/>
            <a:stCxn id="10" idx="2"/>
            <a:endCxn id="30" idx="6"/>
          </p:cNvCxnSpPr>
          <p:nvPr/>
        </p:nvCxnSpPr>
        <p:spPr>
          <a:xfrm>
            <a:off x="5752511" y="2669090"/>
            <a:ext cx="1971508" cy="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D45D37A1-9156-1B98-75CD-6F210BEF627D}"/>
              </a:ext>
            </a:extLst>
          </p:cNvPr>
          <p:cNvSpPr/>
          <p:nvPr/>
        </p:nvSpPr>
        <p:spPr>
          <a:xfrm>
            <a:off x="6230052" y="1994040"/>
            <a:ext cx="1016425" cy="211973"/>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000" dirty="0">
                <a:solidFill>
                  <a:schemeClr val="tx2"/>
                </a:solidFill>
                <a:latin typeface="BiauKaiTC Regular" panose="03000500000000000000" pitchFamily="66" charset="-120"/>
                <a:ea typeface="BiauKaiTC Regular" panose="03000500000000000000" pitchFamily="66" charset="-120"/>
              </a:rPr>
              <a:t>Generation</a:t>
            </a:r>
          </a:p>
        </p:txBody>
      </p:sp>
      <p:sp>
        <p:nvSpPr>
          <p:cNvPr id="9" name="矩形 8">
            <a:extLst>
              <a:ext uri="{FF2B5EF4-FFF2-40B4-BE49-F238E27FC236}">
                <a16:creationId xmlns:a16="http://schemas.microsoft.com/office/drawing/2014/main" id="{9E190127-0B9F-05FA-020E-81010E1DD3B4}"/>
              </a:ext>
            </a:extLst>
          </p:cNvPr>
          <p:cNvSpPr/>
          <p:nvPr/>
        </p:nvSpPr>
        <p:spPr>
          <a:xfrm>
            <a:off x="6230052" y="2273493"/>
            <a:ext cx="1016425" cy="211973"/>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000" dirty="0">
                <a:solidFill>
                  <a:schemeClr val="tx2"/>
                </a:solidFill>
                <a:latin typeface="BiauKaiTC Regular" panose="03000500000000000000" pitchFamily="66" charset="-120"/>
                <a:ea typeface="BiauKaiTC Regular" panose="03000500000000000000" pitchFamily="66" charset="-120"/>
              </a:rPr>
              <a:t>Generation</a:t>
            </a:r>
          </a:p>
        </p:txBody>
      </p:sp>
      <p:sp>
        <p:nvSpPr>
          <p:cNvPr id="11" name="矩形 10">
            <a:extLst>
              <a:ext uri="{FF2B5EF4-FFF2-40B4-BE49-F238E27FC236}">
                <a16:creationId xmlns:a16="http://schemas.microsoft.com/office/drawing/2014/main" id="{7E5A6EA8-35FA-0549-7549-7FA3C2099629}"/>
              </a:ext>
            </a:extLst>
          </p:cNvPr>
          <p:cNvSpPr/>
          <p:nvPr/>
        </p:nvSpPr>
        <p:spPr>
          <a:xfrm>
            <a:off x="6238324" y="2562214"/>
            <a:ext cx="1016425" cy="211973"/>
          </a:xfrm>
          <a:prstGeom prst="rect">
            <a:avLst/>
          </a:prstGeom>
          <a:solidFill>
            <a:schemeClr val="accent2">
              <a:lumMod val="20000"/>
              <a:lumOff val="8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000" dirty="0">
                <a:solidFill>
                  <a:schemeClr val="tx2"/>
                </a:solidFill>
                <a:latin typeface="BiauKaiTC Regular" panose="03000500000000000000" pitchFamily="66" charset="-120"/>
                <a:ea typeface="BiauKaiTC Regular" panose="03000500000000000000" pitchFamily="66" charset="-120"/>
              </a:rPr>
              <a:t>Generation</a:t>
            </a:r>
          </a:p>
        </p:txBody>
      </p:sp>
      <p:sp>
        <p:nvSpPr>
          <p:cNvPr id="20" name="文字方塊 19">
            <a:extLst>
              <a:ext uri="{FF2B5EF4-FFF2-40B4-BE49-F238E27FC236}">
                <a16:creationId xmlns:a16="http://schemas.microsoft.com/office/drawing/2014/main" id="{E54FF94A-EDD3-809D-9EF7-70B74BB0C30D}"/>
              </a:ext>
            </a:extLst>
          </p:cNvPr>
          <p:cNvSpPr txBox="1"/>
          <p:nvPr/>
        </p:nvSpPr>
        <p:spPr>
          <a:xfrm>
            <a:off x="105251" y="3236773"/>
            <a:ext cx="3682024" cy="3466655"/>
          </a:xfrm>
          <a:prstGeom prst="rect">
            <a:avLst/>
          </a:prstGeom>
          <a:noFill/>
        </p:spPr>
        <p:txBody>
          <a:bodyPr wrap="square">
            <a:spAutoFit/>
          </a:bodyPr>
          <a:lstStyle>
            <a:defPPr>
              <a:defRPr lang="zh-TW"/>
            </a:defPPr>
            <a:lvl1pPr indent="0">
              <a:lnSpc>
                <a:spcPts val="1425"/>
              </a:lnSpc>
              <a:spcBef>
                <a:spcPts val="1200"/>
              </a:spcBef>
              <a:buFont typeface="+mj-lt"/>
              <a:buNone/>
              <a:defRPr sz="1200" b="1">
                <a:latin typeface="Kaiti TC" panose="02010600040101010101" pitchFamily="2" charset="-120"/>
                <a:ea typeface="Kaiti TC" panose="02010600040101010101" pitchFamily="2" charset="-120"/>
              </a:defRPr>
            </a:lvl1pPr>
          </a:lstStyle>
          <a:p>
            <a:pPr algn="just"/>
            <a:r>
              <a:rPr lang="en" altLang="zh-TW" sz="1050" dirty="0"/>
              <a:t>Abstract</a:t>
            </a:r>
          </a:p>
          <a:p>
            <a:pPr algn="just"/>
            <a:r>
              <a:rPr lang="en" altLang="zh-TW" sz="900" b="0" dirty="0"/>
              <a:t>Structured XML is the cornerstone of technical documentation in aerospace and defense industries, with S1000D being one of the most stringent standards. While large language models (LLMs) demonstrate impressive capabilities in generating human-like text, their ability to produce structurally correct and schema-compliant XML remains limited. This paper presents S1000DForge-Repair, a novel auto-repair framework that enables LLMs to iteratively generate, validate, and self-correct S1000D-compliant XML documents. By integrating a probabilistic tag prediction module, formal grammar constraints (CFG/CSG), and schema-level validators such as s1kd-validate, our system detects structural and semantic errors in LLM-generated XML and applies targeted repair prompts without full regeneration. We further propose a taxonomy of XML error types and design a closed-loop correction mechanism driven by LLM prompt engineering. Empirical evaluations with real-world data and expert users demonstrate that our repair-first strategy significantly improves XML validity, generation efficiency, and user trust, paving the way for reliable AI-assisted technical authoring.</a:t>
            </a:r>
            <a:endParaRPr lang="zh-TW" altLang="en-US" sz="900" b="0" dirty="0"/>
          </a:p>
        </p:txBody>
      </p:sp>
    </p:spTree>
    <p:extLst>
      <p:ext uri="{BB962C8B-B14F-4D97-AF65-F5344CB8AC3E}">
        <p14:creationId xmlns:p14="http://schemas.microsoft.com/office/powerpoint/2010/main" val="626366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0E1C1127-7F54-A6FE-44EC-ABD9296A2480}"/>
              </a:ext>
            </a:extLst>
          </p:cNvPr>
          <p:cNvSpPr txBox="1"/>
          <p:nvPr/>
        </p:nvSpPr>
        <p:spPr>
          <a:xfrm>
            <a:off x="134706" y="137067"/>
            <a:ext cx="11257194" cy="523220"/>
          </a:xfrm>
          <a:prstGeom prst="rect">
            <a:avLst/>
          </a:prstGeom>
          <a:noFill/>
        </p:spPr>
        <p:txBody>
          <a:bodyPr wrap="square">
            <a:spAutoFit/>
          </a:bodyPr>
          <a:lstStyle/>
          <a:p>
            <a:r>
              <a:rPr lang="en" altLang="zh-TW" sz="2800" b="1" dirty="0">
                <a:solidFill>
                  <a:srgbClr val="0070C0"/>
                </a:solidFill>
                <a:latin typeface="BiauKaiTC Regular" panose="03000500000000000000" pitchFamily="66" charset="-120"/>
                <a:ea typeface="BiauKaiTC Regular" panose="03000500000000000000" pitchFamily="66" charset="-120"/>
              </a:rPr>
              <a:t>Introduction: Why XML?</a:t>
            </a:r>
            <a:endParaRPr lang="zh-TW" altLang="en-US" sz="2800" b="1" dirty="0">
              <a:solidFill>
                <a:srgbClr val="0070C0"/>
              </a:solidFill>
              <a:latin typeface="BiauKaiTC Regular" panose="03000500000000000000" pitchFamily="66" charset="-120"/>
              <a:ea typeface="BiauKaiTC Regular" panose="03000500000000000000" pitchFamily="66" charset="-120"/>
            </a:endParaRPr>
          </a:p>
        </p:txBody>
      </p:sp>
      <p:sp>
        <p:nvSpPr>
          <p:cNvPr id="5" name="文字方塊 4">
            <a:extLst>
              <a:ext uri="{FF2B5EF4-FFF2-40B4-BE49-F238E27FC236}">
                <a16:creationId xmlns:a16="http://schemas.microsoft.com/office/drawing/2014/main" id="{2CE0B9CB-1E1D-83A0-9F6C-33E422D72690}"/>
              </a:ext>
            </a:extLst>
          </p:cNvPr>
          <p:cNvSpPr txBox="1"/>
          <p:nvPr/>
        </p:nvSpPr>
        <p:spPr>
          <a:xfrm>
            <a:off x="134706" y="660286"/>
            <a:ext cx="11832007" cy="2616101"/>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just">
              <a:lnSpc>
                <a:spcPct val="100000"/>
              </a:lnSpc>
              <a:spcBef>
                <a:spcPts val="1200"/>
              </a:spcBef>
              <a:spcAft>
                <a:spcPts val="1200"/>
              </a:spcAft>
              <a:buNone/>
            </a:pPr>
            <a:r>
              <a:rPr lang="en" altLang="zh-TW" sz="1600" dirty="0"/>
              <a:t>Today, many modern data formats like JSON have become popular because they are lightweight and easy to use. However, in industries such as aerospace and defense, XML is still the main standard for technical documentation. This is because XML provides a strict structure, long-term stability, and strong support for industry standards like S1000D. This paper explores how we can apply new technologies, such as generative AI, to help improve XML-based workflows in these traditional industries. Our goal is to bring modern AI tools into legacy systems to make technical content creation more efficient and intelligent.</a:t>
            </a:r>
          </a:p>
          <a:p>
            <a:pPr marL="0" indent="0" algn="just">
              <a:lnSpc>
                <a:spcPct val="100000"/>
              </a:lnSpc>
              <a:spcBef>
                <a:spcPts val="1200"/>
              </a:spcBef>
              <a:spcAft>
                <a:spcPts val="1200"/>
              </a:spcAft>
              <a:buNone/>
            </a:pPr>
            <a:r>
              <a:rPr lang="en" altLang="zh-TW" sz="1600" dirty="0"/>
              <a:t>Although XML is still important, it is also an older markup language. Its heavy use of tags, deep nesting, and context-sensitive structure can be challenging for large language models (LLMs), which are not naturally trained on such formats. </a:t>
            </a:r>
            <a:r>
              <a:rPr lang="en" altLang="zh-TW" sz="1600"/>
              <a:t>To </a:t>
            </a:r>
            <a:r>
              <a:rPr lang="en" altLang="zh-TW" sz="1600" dirty="0"/>
              <a:t>address this, we propose a double-loop mechanism to improve how LLMs generate and repair XML. This approach helps the model better understand XML structure and produce more accurate and usable outputs.</a:t>
            </a:r>
          </a:p>
        </p:txBody>
      </p:sp>
    </p:spTree>
    <p:extLst>
      <p:ext uri="{BB962C8B-B14F-4D97-AF65-F5344CB8AC3E}">
        <p14:creationId xmlns:p14="http://schemas.microsoft.com/office/powerpoint/2010/main" val="120224719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5816</TotalTime>
  <Words>982</Words>
  <Application>Microsoft Macintosh PowerPoint</Application>
  <PresentationFormat>寬螢幕</PresentationFormat>
  <Paragraphs>78</Paragraphs>
  <Slides>4</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4</vt:i4>
      </vt:variant>
    </vt:vector>
  </HeadingPairs>
  <TitlesOfParts>
    <vt:vector size="9" baseType="lpstr">
      <vt:lpstr>BiauKaiTC Regular</vt:lpstr>
      <vt:lpstr>Arial</vt:lpstr>
      <vt:lpstr>Calibri</vt:lpstr>
      <vt:lpstr>Calibri Light</vt:lpstr>
      <vt:lpstr>Office 佈景主題</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呂欣澤</dc:creator>
  <cp:lastModifiedBy>呂欣澤</cp:lastModifiedBy>
  <cp:revision>11</cp:revision>
  <dcterms:created xsi:type="dcterms:W3CDTF">2025-07-22T04:26:51Z</dcterms:created>
  <dcterms:modified xsi:type="dcterms:W3CDTF">2025-07-26T05:23:48Z</dcterms:modified>
</cp:coreProperties>
</file>